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D9CC00E-9BEC-49C3-721C-39AE6390248C}">
          <p14:sldIdLst>
            <p14:sldId id="256"/>
            <p14:sldId id="257"/>
          </p14:sldIdLst>
        </p14:section>
        <p14:section name="Conception" id="{79A12982-34A5-CB81-5687-B24424EF5A81}">
          <p14:sldIdLst>
            <p14:sldId id="258"/>
            <p14:sldId id="259"/>
            <p14:sldId id="260"/>
          </p14:sldIdLst>
        </p14:section>
        <p14:section name="Gestion de l'API" id="{6CFB659A-8C77-F6BD-A79F-A43729A094A0}">
          <p14:sldIdLst>
            <p14:sldId id="261"/>
            <p14:sldId id="262"/>
            <p14:sldId id="263"/>
            <p14:sldId id="264"/>
          </p14:sldIdLst>
        </p14:section>
        <p14:section name="Validation" id="{14E22D0E-64F2-FEF5-A4CB-E30F713065C4}">
          <p14:sldIdLst>
            <p14:sldId id="265"/>
            <p14:sldId id="269"/>
            <p14:sldId id="266"/>
            <p14:sldId id="267"/>
          </p14:sldIdLst>
        </p14:section>
        <p14:section name="Conclusion" id="{EDEC1692-647E-AB90-67C8-5AE38C86D1F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9523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groupe et du thème : publier une API de santé dans WSO2 API Manager et gérer tout son cycle de vie, de la création au retrait. Remplacer « Membre 1 à 5 » par vos noms.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les 7 consignes du prof. Chaque carte renvoie à une partie de la démo. Insister sur la 7e : c'est le point le plus original du sujet.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Parcours d'une requête : le client obtient un jeton sur le port 9443, appelle la passerelle sur 8243, WSO2 vérifie le jeton, la souscription et le quota, puis transmet au backend FastAPI qui lit PostgreSQL. Tout tourne dans Docker Compose ; WSO2 joint le backend par le nom de service « api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routes en lecture seule. Les paramètres sont validés : page &gt;= 1, size entre 1 et 100, type dans une liste fermée. Toute erreur a le même format JSON. Si la base tombe, l'API renvoie 503 au lieu de planter.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contrat OpenAPI 3.0.3 est importé tel quel dans le Publisher. Il distingue les erreurs du backend (format Error) et celles de la passerelle WSO2 (codes à 6 chiffres). Les codes WSO2 viennent de la documentation officielle des erreurs.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Admin Portal, on crée le plan Plan10ParMinute. Côté Developer Portal, l'application AppPortailSante génère ses clés, souscrit à l'API avec ce plan et obtient un jeton. Une seconde application, AppNonAbonnee, sert à démontrer le refus 403.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Démontrer chaque transition avec wso2ctl.py ou dans le Publisher, menu Lifecycle. Le blocage est réversible (Re-Publish). La publication de la v2 déprécie automatiquement la v1 grâce à l'option « Deprecate old versions ». Le retrait (Retire) est définitif.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consigne 7. Les deux cas renvoient une erreur au client, mais pour des raisons différentes. Blocage : décision dans WSO2, état BLOCKED, backend en marche, code 700700. Panne : WSO2 reste PUBLISHED, la passerelle tente le backend et échoue, code 101503. Le script e2e.py enregistre les deux réponses.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New Version copie la v1 en 2.0.0. On importe v2.yaml, on route vers /v2 du backend, on publie en cochant la dépréciation des anciennes versions. Les clients v1 continuent de fonctionner : la v2 garde tous les champs de la v1 et en ajoute. Un test vérifie cette compatibilité.</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niveaux de tests : pytest pour le backend seul, la collection Postman pour la démo manuelle, et e2e.py qui enchaîne tout le scénario de bout en bout sur WSO2 et écrit le rapport resultats-obtenus.md. Le quota (T8) passe en dernier car il consomme le plan pendant une minute.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qu'aucune configuration n'est faite à la main. Tout est dans le dépôt : base, API, contrats, configuration WSO2 et tests. La procédure manuelle docs/wso2-setup.md reste disponible en secours.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membre présente sa partie et a poussé ses fichiers sur sa propre branche, avec une Pull Request relue par le chef de projet. Remplacer les noms.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la démo : python tests/e2e.py, ou les dossiers Postman un par un. Garder la vidéo de secours prête si le réseau ou la machine pose problème.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rtlCol="0"/>
          <a:lstStyle>
            <a:lvl1pPr marL="0" indent="0">
              <a:buNone/>
              <a:defRPr lang="en-US" sz="4000" b="1" dirty="0">
                <a:solidFill>
                  <a:schemeClr val="bg1"/>
                </a:solidFill>
              </a:defRPr>
            </a:lvl1pPr>
          </a:lstStyle>
          <a:p>
            <a:pPr marL="0" indent="0">
              <a:buNone/>
            </a:pPr>
            <a:endParaRPr lang="en-US" sz="4000" dirty="0"/>
          </a:p>
        </p:txBody>
      </p:sp>
      <p:sp>
        <p:nvSpPr>
          <p:cNvPr id="3" name="Text 0"/>
          <p:cNvSpPr>
            <a:spLocks noGrp="1"/>
          </p:cNvSpPr>
          <p:nvPr>
            <p:ph type="body" idx="101" hasCustomPrompt="1"/>
          </p:nvPr>
        </p:nvSpPr>
        <p:spPr>
          <a:xfrm>
            <a:off x="731520" y="3794760"/>
            <a:ext cx="10698480" cy="1280160"/>
          </a:xfrm>
          <a:prstGeom prst="rect">
            <a:avLst/>
          </a:prstGeom>
          <a:noFill/>
          <a:ln/>
        </p:spPr>
        <p:txBody>
          <a:bodyPr wrap="square" rtlCol="0"/>
          <a:lstStyle>
            <a:lvl1pPr marL="0" indent="0">
              <a:buNone/>
              <a:defRPr lang="en-US" sz="1800" dirty="0">
                <a:solidFill>
                  <a:schemeClr val="accent6"/>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lstStyle>
            <a:lvl1pPr marL="0" indent="0">
              <a:buNone/>
              <a:defRPr lang="en-US" sz="3200" b="1" dirty="0">
                <a:solidFill>
                  <a:schemeClr val="tx2"/>
                </a:solidFill>
              </a:defRPr>
            </a:lvl1pPr>
          </a:lstStyle>
          <a:p>
            <a:pPr marL="0" indent="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Groupe 3 SI · WSO2 API Manager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48640"/>
            <a:ext cx="10698480" cy="914400"/>
          </a:xfrm>
          <a:prstGeom prst="rect">
            <a:avLst/>
          </a:prstGeom>
          <a:noFill/>
          <a:ln/>
        </p:spPr>
        <p:txBody>
          <a:bodyPr wrap="square" rtlCol="0"/>
          <a:lstStyle>
            <a:lvl1pPr marL="0" indent="0">
              <a:buNone/>
              <a:defRPr lang="en-US" sz="3400" b="1" dirty="0">
                <a:solidFill>
                  <a:schemeClr val="bg1"/>
                </a:solidFill>
              </a:defRPr>
            </a:lvl1pPr>
          </a:lstStyle>
          <a:p>
            <a:pPr marL="0" indent="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737360"/>
          </a:xfrm>
          <a:prstGeom prst="rect">
            <a:avLst/>
          </a:prstGeom>
          <a:noFill/>
          <a:ln/>
        </p:spPr>
        <p:txBody>
          <a:bodyPr wrap="square" lIns="0" tIns="0" rIns="0" bIns="0" rtlCol="0" anchor="b"/>
          <a:lstStyle/>
          <a:p>
            <a:pPr marL="0" indent="0">
              <a:buNone/>
            </a:pPr>
            <a:r>
              <a:rPr lang="en-US" sz="4000" b="1" dirty="0">
                <a:solidFill>
                  <a:schemeClr val="bg1"/>
                </a:solidFill>
              </a:rPr>
              <a:t>Gestion du cycle de vie d'une API avec WSO2 API Manager</a:t>
            </a:r>
            <a:endParaRPr lang="en-US" sz="4000" dirty="0"/>
          </a:p>
        </p:txBody>
      </p:sp>
      <p:sp>
        <p:nvSpPr>
          <p:cNvPr id="3" name="Text 0"/>
          <p:cNvSpPr>
            <a:spLocks noGrp="1"/>
          </p:cNvSpPr>
          <p:nvPr>
            <p:ph type="body" idx="101" hasCustomPrompt="1"/>
          </p:nvPr>
        </p:nvSpPr>
        <p:spPr>
          <a:xfrm>
            <a:off x="731520" y="3794760"/>
            <a:ext cx="10698480" cy="1280160"/>
          </a:xfrm>
          <a:prstGeom prst="rect">
            <a:avLst/>
          </a:prstGeom>
          <a:noFill/>
          <a:ln/>
        </p:spPr>
        <p:txBody>
          <a:bodyPr wrap="square" lIns="0" tIns="0" rIns="0" bIns="0" rtlCol="0" anchor="t"/>
          <a:lstStyle/>
          <a:p>
            <a:pPr marL="0" indent="0">
              <a:buNone/>
            </a:pPr>
            <a:r>
              <a:rPr lang="en-US" sz="1800" dirty="0">
                <a:solidFill>
                  <a:schemeClr val="accent6"/>
                </a:solidFill>
              </a:rPr>
              <a:t>Thème 24 · Groupe 3 SI · Projet composants et services web 2026</a:t>
            </a:r>
            <a:endParaRPr lang="en-US" sz="1800" dirty="0"/>
          </a:p>
          <a:p>
            <a:pPr marL="0" indent="0">
              <a:buNone/>
            </a:pPr>
            <a:r>
              <a:rPr lang="en-US" sz="1800" dirty="0">
                <a:solidFill>
                  <a:schemeClr val="bg1"/>
                </a:solidFill>
              </a:rPr>
              <a:t>LOMPO Ephraim · OUOBA Arnaud · NIKIEMA Abdoul Fatahou · TIROUDA Leila · ROUAMBA Franck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Sept consignes, toutes démontrées en direct</a:t>
            </a:r>
            <a:endParaRPr lang="en-US" sz="3200" dirty="0"/>
          </a:p>
        </p:txBody>
      </p:sp>
      <p:sp>
        <p:nvSpPr>
          <p:cNvPr id="4" name="carte-1"/>
          <p:cNvSpPr/>
          <p:nvPr/>
        </p:nvSpPr>
        <p:spPr>
          <a:xfrm>
            <a:off x="548640" y="1508760"/>
            <a:ext cx="2578608" cy="2103120"/>
          </a:xfrm>
          <a:prstGeom prst="roundRect">
            <a:avLst>
              <a:gd name="adj" fmla="val 5217"/>
            </a:avLst>
          </a:prstGeom>
          <a:solidFill>
            <a:schemeClr val="bg2"/>
          </a:solidFill>
          <a:ln w="12700">
            <a:solidFill>
              <a:schemeClr val="bg2"/>
            </a:solidFill>
            <a:prstDash val="solid"/>
          </a:ln>
        </p:spPr>
      </p:sp>
      <p:sp>
        <p:nvSpPr>
          <p:cNvPr id="5" name="pastille-2"/>
          <p:cNvSpPr/>
          <p:nvPr/>
        </p:nvSpPr>
        <p:spPr>
          <a:xfrm>
            <a:off x="777240" y="1737360"/>
            <a:ext cx="502920" cy="502920"/>
          </a:xfrm>
          <a:prstGeom prst="ellipse">
            <a:avLst/>
          </a:prstGeom>
          <a:solidFill>
            <a:schemeClr val="accent1"/>
          </a:solidFill>
          <a:ln w="12700">
            <a:solidFill>
              <a:schemeClr val="accent1"/>
            </a:solidFill>
            <a:prstDash val="solid"/>
          </a:ln>
        </p:spPr>
      </p:sp>
      <p:sp>
        <p:nvSpPr>
          <p:cNvPr id="6" name="num-3"/>
          <p:cNvSpPr txBox="1"/>
          <p:nvPr/>
        </p:nvSpPr>
        <p:spPr>
          <a:xfrm>
            <a:off x="777240" y="17373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e-4"/>
          <p:cNvSpPr txBox="1"/>
          <p:nvPr/>
        </p:nvSpPr>
        <p:spPr>
          <a:xfrm>
            <a:off x="777240" y="2377440"/>
            <a:ext cx="2121408" cy="365760"/>
          </a:xfrm>
          <a:prstGeom prst="rect">
            <a:avLst/>
          </a:prstGeom>
          <a:noFill/>
          <a:ln/>
        </p:spPr>
        <p:txBody>
          <a:bodyPr wrap="square" lIns="0" tIns="0" rIns="0" bIns="0" rtlCol="0" anchor="t"/>
          <a:lstStyle/>
          <a:p>
            <a:pPr marL="0" indent="0">
              <a:buNone/>
            </a:pPr>
            <a:r>
              <a:rPr lang="en-US" sz="1700" b="1" dirty="0">
                <a:solidFill>
                  <a:schemeClr val="tx2"/>
                </a:solidFill>
              </a:rPr>
              <a:t>API REST</a:t>
            </a:r>
            <a:endParaRPr lang="en-US" sz="1700" dirty="0"/>
          </a:p>
        </p:txBody>
      </p:sp>
      <p:sp>
        <p:nvSpPr>
          <p:cNvPr id="8" name="texte-5"/>
          <p:cNvSpPr txBox="1"/>
          <p:nvPr/>
        </p:nvSpPr>
        <p:spPr>
          <a:xfrm>
            <a:off x="777240" y="2788920"/>
            <a:ext cx="2121408" cy="731520"/>
          </a:xfrm>
          <a:prstGeom prst="rect">
            <a:avLst/>
          </a:prstGeom>
          <a:noFill/>
          <a:ln/>
        </p:spPr>
        <p:txBody>
          <a:bodyPr wrap="square" lIns="0" tIns="0" rIns="0" bIns="0" rtlCol="0" anchor="t"/>
          <a:lstStyle/>
          <a:p>
            <a:pPr marL="0" indent="0">
              <a:buNone/>
            </a:pPr>
            <a:r>
              <a:rPr lang="en-US" sz="1400" dirty="0">
                <a:solidFill>
                  <a:schemeClr val="tx1"/>
                </a:solidFill>
              </a:rPr>
              <a:t>Lecture, recherche, pagination des structures sanitaires</a:t>
            </a:r>
            <a:endParaRPr lang="en-US" sz="1400" dirty="0"/>
          </a:p>
        </p:txBody>
      </p:sp>
      <p:sp>
        <p:nvSpPr>
          <p:cNvPr id="9" name="carte-6"/>
          <p:cNvSpPr/>
          <p:nvPr/>
        </p:nvSpPr>
        <p:spPr>
          <a:xfrm>
            <a:off x="3355848" y="1508760"/>
            <a:ext cx="2578608" cy="2103120"/>
          </a:xfrm>
          <a:prstGeom prst="roundRect">
            <a:avLst>
              <a:gd name="adj" fmla="val 5217"/>
            </a:avLst>
          </a:prstGeom>
          <a:solidFill>
            <a:schemeClr val="bg2"/>
          </a:solidFill>
          <a:ln w="12700">
            <a:solidFill>
              <a:schemeClr val="bg2"/>
            </a:solidFill>
            <a:prstDash val="solid"/>
          </a:ln>
        </p:spPr>
      </p:sp>
      <p:sp>
        <p:nvSpPr>
          <p:cNvPr id="10" name="pastille-7"/>
          <p:cNvSpPr/>
          <p:nvPr/>
        </p:nvSpPr>
        <p:spPr>
          <a:xfrm>
            <a:off x="3584448" y="1737360"/>
            <a:ext cx="502920" cy="502920"/>
          </a:xfrm>
          <a:prstGeom prst="ellipse">
            <a:avLst/>
          </a:prstGeom>
          <a:solidFill>
            <a:schemeClr val="accent1"/>
          </a:solidFill>
          <a:ln w="12700">
            <a:solidFill>
              <a:schemeClr val="accent1"/>
            </a:solidFill>
            <a:prstDash val="solid"/>
          </a:ln>
        </p:spPr>
      </p:sp>
      <p:sp>
        <p:nvSpPr>
          <p:cNvPr id="11" name="num-8"/>
          <p:cNvSpPr txBox="1"/>
          <p:nvPr/>
        </p:nvSpPr>
        <p:spPr>
          <a:xfrm>
            <a:off x="3584448" y="17373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texte-9"/>
          <p:cNvSpPr txBox="1"/>
          <p:nvPr/>
        </p:nvSpPr>
        <p:spPr>
          <a:xfrm>
            <a:off x="3584448" y="2377440"/>
            <a:ext cx="2121408" cy="365760"/>
          </a:xfrm>
          <a:prstGeom prst="rect">
            <a:avLst/>
          </a:prstGeom>
          <a:noFill/>
          <a:ln/>
        </p:spPr>
        <p:txBody>
          <a:bodyPr wrap="square" lIns="0" tIns="0" rIns="0" bIns="0" rtlCol="0" anchor="t"/>
          <a:lstStyle/>
          <a:p>
            <a:pPr marL="0" indent="0">
              <a:buNone/>
            </a:pPr>
            <a:r>
              <a:rPr lang="en-US" sz="1700" b="1" dirty="0">
                <a:solidFill>
                  <a:schemeClr val="tx2"/>
                </a:solidFill>
              </a:rPr>
              <a:t>Enregistrement</a:t>
            </a:r>
            <a:endParaRPr lang="en-US" sz="1700" dirty="0"/>
          </a:p>
        </p:txBody>
      </p:sp>
      <p:sp>
        <p:nvSpPr>
          <p:cNvPr id="13" name="texte-10"/>
          <p:cNvSpPr txBox="1"/>
          <p:nvPr/>
        </p:nvSpPr>
        <p:spPr>
          <a:xfrm>
            <a:off x="3584448" y="2788920"/>
            <a:ext cx="2121408" cy="731520"/>
          </a:xfrm>
          <a:prstGeom prst="rect">
            <a:avLst/>
          </a:prstGeom>
          <a:noFill/>
          <a:ln/>
        </p:spPr>
        <p:txBody>
          <a:bodyPr wrap="square" lIns="0" tIns="0" rIns="0" bIns="0" rtlCol="0" anchor="t"/>
          <a:lstStyle/>
          <a:p>
            <a:pPr marL="0" indent="0">
              <a:buNone/>
            </a:pPr>
            <a:r>
              <a:rPr lang="en-US" sz="1400" dirty="0">
                <a:solidFill>
                  <a:schemeClr val="tx1"/>
                </a:solidFill>
              </a:rPr>
              <a:t>API importée dans WSO2 et routée vers le backend</a:t>
            </a:r>
            <a:endParaRPr lang="en-US" sz="1400" dirty="0"/>
          </a:p>
        </p:txBody>
      </p:sp>
      <p:sp>
        <p:nvSpPr>
          <p:cNvPr id="14" name="carte-11"/>
          <p:cNvSpPr/>
          <p:nvPr/>
        </p:nvSpPr>
        <p:spPr>
          <a:xfrm>
            <a:off x="6163056" y="1508760"/>
            <a:ext cx="2578608" cy="2103120"/>
          </a:xfrm>
          <a:prstGeom prst="roundRect">
            <a:avLst>
              <a:gd name="adj" fmla="val 5217"/>
            </a:avLst>
          </a:prstGeom>
          <a:solidFill>
            <a:schemeClr val="bg2"/>
          </a:solidFill>
          <a:ln w="12700">
            <a:solidFill>
              <a:schemeClr val="bg2"/>
            </a:solidFill>
            <a:prstDash val="solid"/>
          </a:ln>
        </p:spPr>
      </p:sp>
      <p:sp>
        <p:nvSpPr>
          <p:cNvPr id="15" name="pastille-12"/>
          <p:cNvSpPr/>
          <p:nvPr/>
        </p:nvSpPr>
        <p:spPr>
          <a:xfrm>
            <a:off x="6391656" y="1737360"/>
            <a:ext cx="502920" cy="502920"/>
          </a:xfrm>
          <a:prstGeom prst="ellipse">
            <a:avLst/>
          </a:prstGeom>
          <a:solidFill>
            <a:schemeClr val="accent1"/>
          </a:solidFill>
          <a:ln w="12700">
            <a:solidFill>
              <a:schemeClr val="accent1"/>
            </a:solidFill>
            <a:prstDash val="solid"/>
          </a:ln>
        </p:spPr>
      </p:sp>
      <p:sp>
        <p:nvSpPr>
          <p:cNvPr id="16" name="num-13"/>
          <p:cNvSpPr txBox="1"/>
          <p:nvPr/>
        </p:nvSpPr>
        <p:spPr>
          <a:xfrm>
            <a:off x="6391656" y="17373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7" name="texte-14"/>
          <p:cNvSpPr txBox="1"/>
          <p:nvPr/>
        </p:nvSpPr>
        <p:spPr>
          <a:xfrm>
            <a:off x="6391656" y="2377440"/>
            <a:ext cx="2121408" cy="365760"/>
          </a:xfrm>
          <a:prstGeom prst="rect">
            <a:avLst/>
          </a:prstGeom>
          <a:noFill/>
          <a:ln/>
        </p:spPr>
        <p:txBody>
          <a:bodyPr wrap="square" lIns="0" tIns="0" rIns="0" bIns="0" rtlCol="0" anchor="t"/>
          <a:lstStyle/>
          <a:p>
            <a:pPr marL="0" indent="0">
              <a:buNone/>
            </a:pPr>
            <a:r>
              <a:rPr lang="en-US" sz="1700" b="1" dirty="0">
                <a:solidFill>
                  <a:schemeClr val="tx2"/>
                </a:solidFill>
              </a:rPr>
              <a:t>Contrat OpenAPI</a:t>
            </a:r>
            <a:endParaRPr lang="en-US" sz="1700" dirty="0"/>
          </a:p>
        </p:txBody>
      </p:sp>
      <p:sp>
        <p:nvSpPr>
          <p:cNvPr id="18" name="texte-15"/>
          <p:cNvSpPr txBox="1"/>
          <p:nvPr/>
        </p:nvSpPr>
        <p:spPr>
          <a:xfrm>
            <a:off x="6391656" y="2788920"/>
            <a:ext cx="2121408" cy="731520"/>
          </a:xfrm>
          <a:prstGeom prst="rect">
            <a:avLst/>
          </a:prstGeom>
          <a:noFill/>
          <a:ln/>
        </p:spPr>
        <p:txBody>
          <a:bodyPr wrap="square" lIns="0" tIns="0" rIns="0" bIns="0" rtlCol="0" anchor="t"/>
          <a:lstStyle/>
          <a:p>
            <a:pPr marL="0" indent="0">
              <a:buNone/>
            </a:pPr>
            <a:r>
              <a:rPr lang="en-US" sz="1400" dirty="0">
                <a:solidFill>
                  <a:schemeClr val="tx1"/>
                </a:solidFill>
              </a:rPr>
              <a:t>Paramètres, réponses et erreurs documentés</a:t>
            </a:r>
            <a:endParaRPr lang="en-US" sz="1400" dirty="0"/>
          </a:p>
        </p:txBody>
      </p:sp>
      <p:sp>
        <p:nvSpPr>
          <p:cNvPr id="19" name="carte-16"/>
          <p:cNvSpPr/>
          <p:nvPr/>
        </p:nvSpPr>
        <p:spPr>
          <a:xfrm>
            <a:off x="8970264" y="1508760"/>
            <a:ext cx="2578608" cy="2103120"/>
          </a:xfrm>
          <a:prstGeom prst="roundRect">
            <a:avLst>
              <a:gd name="adj" fmla="val 5217"/>
            </a:avLst>
          </a:prstGeom>
          <a:solidFill>
            <a:schemeClr val="bg2"/>
          </a:solidFill>
          <a:ln w="12700">
            <a:solidFill>
              <a:schemeClr val="bg2"/>
            </a:solidFill>
            <a:prstDash val="solid"/>
          </a:ln>
        </p:spPr>
      </p:sp>
      <p:sp>
        <p:nvSpPr>
          <p:cNvPr id="20" name="pastille-17"/>
          <p:cNvSpPr/>
          <p:nvPr/>
        </p:nvSpPr>
        <p:spPr>
          <a:xfrm>
            <a:off x="9198864" y="1737360"/>
            <a:ext cx="502920" cy="502920"/>
          </a:xfrm>
          <a:prstGeom prst="ellipse">
            <a:avLst/>
          </a:prstGeom>
          <a:solidFill>
            <a:schemeClr val="accent1"/>
          </a:solidFill>
          <a:ln w="12700">
            <a:solidFill>
              <a:schemeClr val="accent1"/>
            </a:solidFill>
            <a:prstDash val="solid"/>
          </a:ln>
        </p:spPr>
      </p:sp>
      <p:sp>
        <p:nvSpPr>
          <p:cNvPr id="21" name="num-18"/>
          <p:cNvSpPr txBox="1"/>
          <p:nvPr/>
        </p:nvSpPr>
        <p:spPr>
          <a:xfrm>
            <a:off x="9198864" y="17373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2" name="texte-19"/>
          <p:cNvSpPr txBox="1"/>
          <p:nvPr/>
        </p:nvSpPr>
        <p:spPr>
          <a:xfrm>
            <a:off x="9198864" y="2377440"/>
            <a:ext cx="2121408" cy="365760"/>
          </a:xfrm>
          <a:prstGeom prst="rect">
            <a:avLst/>
          </a:prstGeom>
          <a:noFill/>
          <a:ln/>
        </p:spPr>
        <p:txBody>
          <a:bodyPr wrap="square" lIns="0" tIns="0" rIns="0" bIns="0" rtlCol="0" anchor="t"/>
          <a:lstStyle/>
          <a:p>
            <a:pPr marL="0" indent="0">
              <a:buNone/>
            </a:pPr>
            <a:r>
              <a:rPr lang="en-US" sz="1700" b="1" dirty="0">
                <a:solidFill>
                  <a:schemeClr val="tx2"/>
                </a:solidFill>
              </a:rPr>
              <a:t>Plan d'accès</a:t>
            </a:r>
            <a:endParaRPr lang="en-US" sz="1700" dirty="0"/>
          </a:p>
        </p:txBody>
      </p:sp>
      <p:sp>
        <p:nvSpPr>
          <p:cNvPr id="23" name="texte-20"/>
          <p:cNvSpPr txBox="1"/>
          <p:nvPr/>
        </p:nvSpPr>
        <p:spPr>
          <a:xfrm>
            <a:off x="9198864" y="2788920"/>
            <a:ext cx="2121408" cy="731520"/>
          </a:xfrm>
          <a:prstGeom prst="rect">
            <a:avLst/>
          </a:prstGeom>
          <a:noFill/>
          <a:ln/>
        </p:spPr>
        <p:txBody>
          <a:bodyPr wrap="square" lIns="0" tIns="0" rIns="0" bIns="0" rtlCol="0" anchor="t"/>
          <a:lstStyle/>
          <a:p>
            <a:pPr marL="0" indent="0">
              <a:buNone/>
            </a:pPr>
            <a:r>
              <a:rPr lang="en-US" sz="1400" dirty="0">
                <a:solidFill>
                  <a:schemeClr val="tx1"/>
                </a:solidFill>
              </a:rPr>
              <a:t>Authentification OAuth2 et quota de 10 requêtes/min</a:t>
            </a:r>
            <a:endParaRPr lang="en-US" sz="1400" dirty="0"/>
          </a:p>
        </p:txBody>
      </p:sp>
      <p:sp>
        <p:nvSpPr>
          <p:cNvPr id="24" name="carte-21"/>
          <p:cNvSpPr/>
          <p:nvPr/>
        </p:nvSpPr>
        <p:spPr>
          <a:xfrm>
            <a:off x="548640" y="3840480"/>
            <a:ext cx="2578608" cy="2103120"/>
          </a:xfrm>
          <a:prstGeom prst="roundRect">
            <a:avLst>
              <a:gd name="adj" fmla="val 5217"/>
            </a:avLst>
          </a:prstGeom>
          <a:solidFill>
            <a:schemeClr val="bg2"/>
          </a:solidFill>
          <a:ln w="12700">
            <a:solidFill>
              <a:schemeClr val="bg2"/>
            </a:solidFill>
            <a:prstDash val="solid"/>
          </a:ln>
        </p:spPr>
      </p:sp>
      <p:sp>
        <p:nvSpPr>
          <p:cNvPr id="25" name="pastille-22"/>
          <p:cNvSpPr/>
          <p:nvPr/>
        </p:nvSpPr>
        <p:spPr>
          <a:xfrm>
            <a:off x="777240" y="4069080"/>
            <a:ext cx="502920" cy="502920"/>
          </a:xfrm>
          <a:prstGeom prst="ellipse">
            <a:avLst/>
          </a:prstGeom>
          <a:solidFill>
            <a:schemeClr val="accent1"/>
          </a:solidFill>
          <a:ln w="12700">
            <a:solidFill>
              <a:schemeClr val="accent1"/>
            </a:solidFill>
            <a:prstDash val="solid"/>
          </a:ln>
        </p:spPr>
      </p:sp>
      <p:sp>
        <p:nvSpPr>
          <p:cNvPr id="26" name="num-23"/>
          <p:cNvSpPr txBox="1"/>
          <p:nvPr/>
        </p:nvSpPr>
        <p:spPr>
          <a:xfrm>
            <a:off x="777240" y="40690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7" name="texte-24"/>
          <p:cNvSpPr txBox="1"/>
          <p:nvPr/>
        </p:nvSpPr>
        <p:spPr>
          <a:xfrm>
            <a:off x="777240" y="4709160"/>
            <a:ext cx="2121408" cy="365760"/>
          </a:xfrm>
          <a:prstGeom prst="rect">
            <a:avLst/>
          </a:prstGeom>
          <a:noFill/>
          <a:ln/>
        </p:spPr>
        <p:txBody>
          <a:bodyPr wrap="square" lIns="0" tIns="0" rIns="0" bIns="0" rtlCol="0" anchor="t"/>
          <a:lstStyle/>
          <a:p>
            <a:pPr marL="0" indent="0">
              <a:buNone/>
            </a:pPr>
            <a:r>
              <a:rPr lang="en-US" sz="1700" b="1" dirty="0">
                <a:solidFill>
                  <a:schemeClr val="tx2"/>
                </a:solidFill>
              </a:rPr>
              <a:t>Cycle de vie</a:t>
            </a:r>
            <a:endParaRPr lang="en-US" sz="1700" dirty="0"/>
          </a:p>
        </p:txBody>
      </p:sp>
      <p:sp>
        <p:nvSpPr>
          <p:cNvPr id="28" name="texte-25"/>
          <p:cNvSpPr txBox="1"/>
          <p:nvPr/>
        </p:nvSpPr>
        <p:spPr>
          <a:xfrm>
            <a:off x="777240" y="5120640"/>
            <a:ext cx="2121408" cy="731520"/>
          </a:xfrm>
          <a:prstGeom prst="rect">
            <a:avLst/>
          </a:prstGeom>
          <a:noFill/>
          <a:ln/>
        </p:spPr>
        <p:txBody>
          <a:bodyPr wrap="square" lIns="0" tIns="0" rIns="0" bIns="0" rtlCol="0" anchor="t"/>
          <a:lstStyle/>
          <a:p>
            <a:pPr marL="0" indent="0">
              <a:buNone/>
            </a:pPr>
            <a:r>
              <a:rPr lang="en-US" sz="1400" dirty="0">
                <a:solidFill>
                  <a:schemeClr val="tx1"/>
                </a:solidFill>
              </a:rPr>
              <a:t>Création, publication, blocage, nouvelle version</a:t>
            </a:r>
            <a:endParaRPr lang="en-US" sz="1400" dirty="0"/>
          </a:p>
        </p:txBody>
      </p:sp>
      <p:sp>
        <p:nvSpPr>
          <p:cNvPr id="29" name="carte-26"/>
          <p:cNvSpPr/>
          <p:nvPr/>
        </p:nvSpPr>
        <p:spPr>
          <a:xfrm>
            <a:off x="3355848" y="3840480"/>
            <a:ext cx="2578608" cy="2103120"/>
          </a:xfrm>
          <a:prstGeom prst="roundRect">
            <a:avLst>
              <a:gd name="adj" fmla="val 5217"/>
            </a:avLst>
          </a:prstGeom>
          <a:solidFill>
            <a:schemeClr val="bg2"/>
          </a:solidFill>
          <a:ln w="12700">
            <a:solidFill>
              <a:schemeClr val="bg2"/>
            </a:solidFill>
            <a:prstDash val="solid"/>
          </a:ln>
        </p:spPr>
      </p:sp>
      <p:sp>
        <p:nvSpPr>
          <p:cNvPr id="30" name="pastille-27"/>
          <p:cNvSpPr/>
          <p:nvPr/>
        </p:nvSpPr>
        <p:spPr>
          <a:xfrm>
            <a:off x="3584448" y="4069080"/>
            <a:ext cx="502920" cy="502920"/>
          </a:xfrm>
          <a:prstGeom prst="ellipse">
            <a:avLst/>
          </a:prstGeom>
          <a:solidFill>
            <a:schemeClr val="accent1"/>
          </a:solidFill>
          <a:ln w="12700">
            <a:solidFill>
              <a:schemeClr val="accent1"/>
            </a:solidFill>
            <a:prstDash val="solid"/>
          </a:ln>
        </p:spPr>
      </p:sp>
      <p:sp>
        <p:nvSpPr>
          <p:cNvPr id="31" name="num-28"/>
          <p:cNvSpPr txBox="1"/>
          <p:nvPr/>
        </p:nvSpPr>
        <p:spPr>
          <a:xfrm>
            <a:off x="3584448" y="40690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2" name="texte-29"/>
          <p:cNvSpPr txBox="1"/>
          <p:nvPr/>
        </p:nvSpPr>
        <p:spPr>
          <a:xfrm>
            <a:off x="3584448" y="4709160"/>
            <a:ext cx="2121408" cy="365760"/>
          </a:xfrm>
          <a:prstGeom prst="rect">
            <a:avLst/>
          </a:prstGeom>
          <a:noFill/>
          <a:ln/>
        </p:spPr>
        <p:txBody>
          <a:bodyPr wrap="square" lIns="0" tIns="0" rIns="0" bIns="0" rtlCol="0" anchor="t"/>
          <a:lstStyle/>
          <a:p>
            <a:pPr marL="0" indent="0">
              <a:buNone/>
            </a:pPr>
            <a:r>
              <a:rPr lang="en-US" sz="1700" b="1" dirty="0">
                <a:solidFill>
                  <a:schemeClr val="tx2"/>
                </a:solidFill>
              </a:rPr>
              <a:t>Application</a:t>
            </a:r>
            <a:endParaRPr lang="en-US" sz="1700" dirty="0"/>
          </a:p>
        </p:txBody>
      </p:sp>
      <p:sp>
        <p:nvSpPr>
          <p:cNvPr id="33" name="texte-30"/>
          <p:cNvSpPr txBox="1"/>
          <p:nvPr/>
        </p:nvSpPr>
        <p:spPr>
          <a:xfrm>
            <a:off x="3584448" y="5120640"/>
            <a:ext cx="2121408" cy="731520"/>
          </a:xfrm>
          <a:prstGeom prst="rect">
            <a:avLst/>
          </a:prstGeom>
          <a:noFill/>
          <a:ln/>
        </p:spPr>
        <p:txBody>
          <a:bodyPr wrap="square" lIns="0" tIns="0" rIns="0" bIns="0" rtlCol="0" anchor="t"/>
          <a:lstStyle/>
          <a:p>
            <a:pPr marL="0" indent="0">
              <a:buNone/>
            </a:pPr>
            <a:r>
              <a:rPr lang="en-US" sz="1400" dirty="0">
                <a:solidFill>
                  <a:schemeClr val="tx1"/>
                </a:solidFill>
              </a:rPr>
              <a:t>Souscription et contrôle des droits d'accès</a:t>
            </a:r>
            <a:endParaRPr lang="en-US" sz="1400" dirty="0"/>
          </a:p>
        </p:txBody>
      </p:sp>
      <p:sp>
        <p:nvSpPr>
          <p:cNvPr id="34" name="carte-31"/>
          <p:cNvSpPr/>
          <p:nvPr/>
        </p:nvSpPr>
        <p:spPr>
          <a:xfrm>
            <a:off x="6163056" y="3840480"/>
            <a:ext cx="2578608" cy="2103120"/>
          </a:xfrm>
          <a:prstGeom prst="roundRect">
            <a:avLst>
              <a:gd name="adj" fmla="val 5217"/>
            </a:avLst>
          </a:prstGeom>
          <a:solidFill>
            <a:schemeClr val="accent1"/>
          </a:solidFill>
          <a:ln w="12700">
            <a:solidFill>
              <a:schemeClr val="accent1"/>
            </a:solidFill>
            <a:prstDash val="solid"/>
          </a:ln>
        </p:spPr>
      </p:sp>
      <p:sp>
        <p:nvSpPr>
          <p:cNvPr id="35" name="pastille-32"/>
          <p:cNvSpPr/>
          <p:nvPr/>
        </p:nvSpPr>
        <p:spPr>
          <a:xfrm>
            <a:off x="6391656" y="4069080"/>
            <a:ext cx="502920" cy="502920"/>
          </a:xfrm>
          <a:prstGeom prst="ellipse">
            <a:avLst/>
          </a:prstGeom>
          <a:solidFill>
            <a:schemeClr val="bg1"/>
          </a:solidFill>
          <a:ln w="12700">
            <a:solidFill>
              <a:schemeClr val="bg1"/>
            </a:solidFill>
            <a:prstDash val="solid"/>
          </a:ln>
        </p:spPr>
      </p:sp>
      <p:sp>
        <p:nvSpPr>
          <p:cNvPr id="36" name="num-33"/>
          <p:cNvSpPr txBox="1"/>
          <p:nvPr/>
        </p:nvSpPr>
        <p:spPr>
          <a:xfrm>
            <a:off x="6391656" y="4069080"/>
            <a:ext cx="502920" cy="502920"/>
          </a:xfrm>
          <a:prstGeom prst="rect">
            <a:avLst/>
          </a:prstGeom>
          <a:noFill/>
          <a:ln/>
        </p:spPr>
        <p:txBody>
          <a:bodyPr wrap="square" lIns="0" tIns="0" rIns="0" bIns="0" rtlCol="0" anchor="ctr"/>
          <a:lstStyle/>
          <a:p>
            <a:pPr marL="0" indent="0" algn="ctr">
              <a:buNone/>
            </a:pPr>
            <a:r>
              <a:rPr lang="en-US" sz="1600" b="1" dirty="0">
                <a:solidFill>
                  <a:schemeClr val="accent1"/>
                </a:solidFill>
              </a:rPr>
              <a:t>7</a:t>
            </a:r>
            <a:endParaRPr lang="en-US" sz="1600" dirty="0"/>
          </a:p>
        </p:txBody>
      </p:sp>
      <p:sp>
        <p:nvSpPr>
          <p:cNvPr id="37" name="texte-34"/>
          <p:cNvSpPr txBox="1"/>
          <p:nvPr/>
        </p:nvSpPr>
        <p:spPr>
          <a:xfrm>
            <a:off x="6391656" y="4709160"/>
            <a:ext cx="2121408" cy="365760"/>
          </a:xfrm>
          <a:prstGeom prst="rect">
            <a:avLst/>
          </a:prstGeom>
          <a:noFill/>
          <a:ln/>
        </p:spPr>
        <p:txBody>
          <a:bodyPr wrap="square" lIns="0" tIns="0" rIns="0" bIns="0" rtlCol="0" anchor="t"/>
          <a:lstStyle/>
          <a:p>
            <a:pPr marL="0" indent="0">
              <a:buNone/>
            </a:pPr>
            <a:r>
              <a:rPr lang="en-US" sz="1700" b="1" dirty="0">
                <a:solidFill>
                  <a:schemeClr val="bg1"/>
                </a:solidFill>
              </a:rPr>
              <a:t>Deux états distincts</a:t>
            </a:r>
            <a:endParaRPr lang="en-US" sz="1700" dirty="0"/>
          </a:p>
        </p:txBody>
      </p:sp>
      <p:sp>
        <p:nvSpPr>
          <p:cNvPr id="38" name="texte-35"/>
          <p:cNvSpPr txBox="1"/>
          <p:nvPr/>
        </p:nvSpPr>
        <p:spPr>
          <a:xfrm>
            <a:off x="6391656" y="5120640"/>
            <a:ext cx="2121408" cy="731520"/>
          </a:xfrm>
          <a:prstGeom prst="rect">
            <a:avLst/>
          </a:prstGeom>
          <a:noFill/>
          <a:ln/>
        </p:spPr>
        <p:txBody>
          <a:bodyPr wrap="square" lIns="0" tIns="0" rIns="0" bIns="0" rtlCol="0" anchor="t"/>
          <a:lstStyle/>
          <a:p>
            <a:pPr marL="0" indent="0">
              <a:buNone/>
            </a:pPr>
            <a:r>
              <a:rPr lang="en-US" sz="1400" dirty="0">
                <a:solidFill>
                  <a:schemeClr val="bg1"/>
                </a:solidFill>
              </a:rPr>
              <a:t>Retrait de publication ≠ arrêt technique</a:t>
            </a:r>
            <a:endParaRPr lang="en-US" sz="1400" dirty="0"/>
          </a:p>
        </p:txBody>
      </p:sp>
      <p:sp>
        <p:nvSpPr>
          <p:cNvPr id="39" name="texte-36"/>
          <p:cNvSpPr txBox="1"/>
          <p:nvPr/>
        </p:nvSpPr>
        <p:spPr>
          <a:xfrm>
            <a:off x="8970264" y="4206240"/>
            <a:ext cx="2578608" cy="1737360"/>
          </a:xfrm>
          <a:prstGeom prst="rect">
            <a:avLst/>
          </a:prstGeom>
          <a:noFill/>
          <a:ln/>
        </p:spPr>
        <p:txBody>
          <a:bodyPr wrap="square" lIns="0" tIns="0" rIns="0" bIns="0" rtlCol="0" anchor="ctr"/>
          <a:lstStyle/>
          <a:p>
            <a:pPr marL="0" indent="0">
              <a:buNone/>
            </a:pPr>
            <a:r>
              <a:rPr lang="en-US" sz="1400" i="1" dirty="0">
                <a:solidFill>
                  <a:schemeClr val="accent4"/>
                </a:solidFill>
              </a:rPr>
              <a:t>Démo : wso2ctl.py rejoue chaque étape par les API REST officielles de WSO2</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Le client ne parle qu'à la passerelle WSO2</a:t>
            </a:r>
            <a:endParaRPr lang="en-US" sz="3200" dirty="0"/>
          </a:p>
        </p:txBody>
      </p:sp>
      <p:sp>
        <p:nvSpPr>
          <p:cNvPr id="4" name="boite-37"/>
          <p:cNvSpPr/>
          <p:nvPr/>
        </p:nvSpPr>
        <p:spPr>
          <a:xfrm>
            <a:off x="548640" y="2194560"/>
            <a:ext cx="1828800" cy="1554480"/>
          </a:xfrm>
          <a:prstGeom prst="roundRect">
            <a:avLst>
              <a:gd name="adj" fmla="val 7059"/>
            </a:avLst>
          </a:prstGeom>
          <a:solidFill>
            <a:schemeClr val="bg1"/>
          </a:solidFill>
          <a:ln w="19050">
            <a:solidFill>
              <a:schemeClr val="accent1"/>
            </a:solidFill>
            <a:prstDash val="solid"/>
          </a:ln>
        </p:spPr>
      </p:sp>
      <p:sp>
        <p:nvSpPr>
          <p:cNvPr id="5" name="libelle-38"/>
          <p:cNvSpPr txBox="1"/>
          <p:nvPr/>
        </p:nvSpPr>
        <p:spPr>
          <a:xfrm>
            <a:off x="548640" y="2194560"/>
            <a:ext cx="1828800" cy="1554480"/>
          </a:xfrm>
          <a:prstGeom prst="rect">
            <a:avLst/>
          </a:prstGeom>
          <a:noFill/>
          <a:ln/>
        </p:spPr>
        <p:txBody>
          <a:bodyPr wrap="square" lIns="1016" tIns="1016" rIns="1016" bIns="1016" rtlCol="0" anchor="ctr"/>
          <a:lstStyle/>
          <a:p>
            <a:pPr marL="0" indent="0" algn="ctr">
              <a:buNone/>
            </a:pPr>
            <a:r>
              <a:rPr lang="en-US" sz="1600" b="1" dirty="0">
                <a:solidFill>
                  <a:schemeClr val="tx2"/>
                </a:solidFill>
              </a:rPr>
              <a:t>Client</a:t>
            </a:r>
            <a:endParaRPr lang="en-US" sz="1600" dirty="0"/>
          </a:p>
          <a:p>
            <a:pPr marL="0" indent="0" algn="ctr">
              <a:buNone/>
            </a:pPr>
            <a:r>
              <a:rPr lang="en-US" sz="1200" dirty="0">
                <a:solidFill>
                  <a:schemeClr val="accent4"/>
                </a:solidFill>
              </a:rPr>
              <a:t>Postman · e2e.py</a:t>
            </a:r>
            <a:endParaRPr lang="en-US" sz="1600" dirty="0"/>
          </a:p>
        </p:txBody>
      </p:sp>
      <p:sp>
        <p:nvSpPr>
          <p:cNvPr id="6" name="boite-wso2"/>
          <p:cNvSpPr/>
          <p:nvPr/>
        </p:nvSpPr>
        <p:spPr>
          <a:xfrm>
            <a:off x="3200400" y="1600200"/>
            <a:ext cx="3291840" cy="2743200"/>
          </a:xfrm>
          <a:prstGeom prst="roundRect">
            <a:avLst>
              <a:gd name="adj" fmla="val 4000"/>
            </a:avLst>
          </a:prstGeom>
          <a:solidFill>
            <a:schemeClr val="accent1"/>
          </a:solidFill>
          <a:ln w="12700">
            <a:solidFill>
              <a:schemeClr val="accent1"/>
            </a:solidFill>
            <a:prstDash val="solid"/>
          </a:ln>
        </p:spPr>
      </p:sp>
      <p:sp>
        <p:nvSpPr>
          <p:cNvPr id="7" name="texte-39"/>
          <p:cNvSpPr txBox="1"/>
          <p:nvPr/>
        </p:nvSpPr>
        <p:spPr>
          <a:xfrm>
            <a:off x="3337560" y="1600200"/>
            <a:ext cx="3017520" cy="2743200"/>
          </a:xfrm>
          <a:prstGeom prst="rect">
            <a:avLst/>
          </a:prstGeom>
          <a:noFill/>
          <a:ln/>
        </p:spPr>
        <p:txBody>
          <a:bodyPr wrap="square" lIns="0" tIns="0" rIns="0" bIns="0" rtlCol="0" anchor="ctr"/>
          <a:lstStyle/>
          <a:p>
            <a:pPr marL="0" indent="0" algn="ctr">
              <a:buNone/>
            </a:pPr>
            <a:r>
              <a:rPr lang="en-US" sz="1700" b="1" dirty="0">
                <a:solidFill>
                  <a:schemeClr val="bg1"/>
                </a:solidFill>
              </a:rPr>
              <a:t>WSO2 API Manager 4.6.0</a:t>
            </a:r>
            <a:endParaRPr lang="en-US" sz="1400" dirty="0"/>
          </a:p>
          <a:p>
            <a:pPr marL="0" indent="0" algn="ctr">
              <a:buNone/>
            </a:pPr>
            <a:r>
              <a:rPr lang="en-US" sz="800" dirty="0">
                <a:solidFill>
                  <a:schemeClr val="bg1"/>
                </a:solidFill>
              </a:rPr>
              <a:t> </a:t>
            </a:r>
            <a:endParaRPr lang="en-US" sz="1400" dirty="0"/>
          </a:p>
          <a:p>
            <a:pPr marL="0" indent="0" algn="ctr">
              <a:buNone/>
            </a:pPr>
            <a:r>
              <a:rPr lang="en-US" sz="1400" b="1" dirty="0">
                <a:solidFill>
                  <a:schemeClr val="bg1"/>
                </a:solidFill>
              </a:rPr>
              <a:t>Passerelle :8243</a:t>
            </a:r>
            <a:endParaRPr lang="en-US" sz="1400" dirty="0"/>
          </a:p>
          <a:p>
            <a:pPr marL="0" indent="0" algn="ctr">
              <a:buNone/>
            </a:pPr>
            <a:r>
              <a:rPr lang="en-US" sz="1400" dirty="0">
                <a:solidFill>
                  <a:schemeClr val="bg1"/>
                </a:solidFill>
              </a:rPr>
              <a:t>jeton · souscription · quota</a:t>
            </a:r>
            <a:endParaRPr lang="en-US" sz="1400" dirty="0"/>
          </a:p>
          <a:p>
            <a:pPr marL="0" indent="0" algn="ctr">
              <a:buNone/>
            </a:pPr>
            <a:r>
              <a:rPr lang="en-US" sz="800" dirty="0">
                <a:solidFill>
                  <a:schemeClr val="bg1"/>
                </a:solidFill>
              </a:rPr>
              <a:t> </a:t>
            </a:r>
            <a:endParaRPr lang="en-US" sz="1400" dirty="0"/>
          </a:p>
          <a:p>
            <a:pPr marL="0" indent="0" algn="ctr">
              <a:buNone/>
            </a:pPr>
            <a:r>
              <a:rPr lang="en-US" sz="1400" b="1" dirty="0">
                <a:solidFill>
                  <a:schemeClr val="bg1"/>
                </a:solidFill>
              </a:rPr>
              <a:t>Portails :9443</a:t>
            </a:r>
            <a:endParaRPr lang="en-US" sz="1400" dirty="0"/>
          </a:p>
          <a:p>
            <a:pPr marL="0" indent="0" algn="ctr">
              <a:buNone/>
            </a:pPr>
            <a:r>
              <a:rPr lang="en-US" sz="1400" dirty="0">
                <a:solidFill>
                  <a:schemeClr val="bg1"/>
                </a:solidFill>
              </a:rPr>
              <a:t>Publisher · Developer Portal · Admin</a:t>
            </a:r>
            <a:endParaRPr lang="en-US" sz="1400" dirty="0"/>
          </a:p>
        </p:txBody>
      </p:sp>
      <p:sp>
        <p:nvSpPr>
          <p:cNvPr id="8" name="boite-40"/>
          <p:cNvSpPr/>
          <p:nvPr/>
        </p:nvSpPr>
        <p:spPr>
          <a:xfrm>
            <a:off x="7772400" y="2194560"/>
            <a:ext cx="1828800" cy="1554480"/>
          </a:xfrm>
          <a:prstGeom prst="roundRect">
            <a:avLst>
              <a:gd name="adj" fmla="val 7059"/>
            </a:avLst>
          </a:prstGeom>
          <a:solidFill>
            <a:schemeClr val="bg1"/>
          </a:solidFill>
          <a:ln w="19050">
            <a:solidFill>
              <a:schemeClr val="accent1"/>
            </a:solidFill>
            <a:prstDash val="solid"/>
          </a:ln>
        </p:spPr>
      </p:sp>
      <p:sp>
        <p:nvSpPr>
          <p:cNvPr id="9" name="libelle-41"/>
          <p:cNvSpPr txBox="1"/>
          <p:nvPr/>
        </p:nvSpPr>
        <p:spPr>
          <a:xfrm>
            <a:off x="7772400" y="2194560"/>
            <a:ext cx="1828800" cy="1554480"/>
          </a:xfrm>
          <a:prstGeom prst="rect">
            <a:avLst/>
          </a:prstGeom>
          <a:noFill/>
          <a:ln/>
        </p:spPr>
        <p:txBody>
          <a:bodyPr wrap="square" lIns="1016" tIns="1016" rIns="1016" bIns="1016" rtlCol="0" anchor="ctr"/>
          <a:lstStyle/>
          <a:p>
            <a:pPr marL="0" indent="0" algn="ctr">
              <a:buNone/>
            </a:pPr>
            <a:r>
              <a:rPr lang="en-US" sz="1600" b="1" dirty="0">
                <a:solidFill>
                  <a:schemeClr val="tx2"/>
                </a:solidFill>
              </a:rPr>
              <a:t>FastAPI</a:t>
            </a:r>
            <a:endParaRPr lang="en-US" sz="1600" dirty="0"/>
          </a:p>
          <a:p>
            <a:pPr marL="0" indent="0" algn="ctr">
              <a:buNone/>
            </a:pPr>
            <a:r>
              <a:rPr lang="en-US" sz="1200" dirty="0">
                <a:solidFill>
                  <a:schemeClr val="accent4"/>
                </a:solidFill>
              </a:rPr>
              <a:t>Python 3.12 · :8000</a:t>
            </a:r>
            <a:endParaRPr lang="en-US" sz="1600" dirty="0"/>
          </a:p>
        </p:txBody>
      </p:sp>
      <p:sp>
        <p:nvSpPr>
          <p:cNvPr id="10" name="boite-42"/>
          <p:cNvSpPr/>
          <p:nvPr/>
        </p:nvSpPr>
        <p:spPr>
          <a:xfrm>
            <a:off x="10241280" y="2194560"/>
            <a:ext cx="1417320" cy="1554480"/>
          </a:xfrm>
          <a:prstGeom prst="roundRect">
            <a:avLst>
              <a:gd name="adj" fmla="val 7742"/>
            </a:avLst>
          </a:prstGeom>
          <a:solidFill>
            <a:schemeClr val="bg1"/>
          </a:solidFill>
          <a:ln w="19050">
            <a:solidFill>
              <a:schemeClr val="accent1"/>
            </a:solidFill>
            <a:prstDash val="solid"/>
          </a:ln>
        </p:spPr>
      </p:sp>
      <p:sp>
        <p:nvSpPr>
          <p:cNvPr id="11" name="libelle-43"/>
          <p:cNvSpPr txBox="1"/>
          <p:nvPr/>
        </p:nvSpPr>
        <p:spPr>
          <a:xfrm>
            <a:off x="10241280" y="2194560"/>
            <a:ext cx="1417320" cy="1554480"/>
          </a:xfrm>
          <a:prstGeom prst="rect">
            <a:avLst/>
          </a:prstGeom>
          <a:noFill/>
          <a:ln/>
        </p:spPr>
        <p:txBody>
          <a:bodyPr wrap="square" lIns="1016" tIns="1016" rIns="1016" bIns="1016" rtlCol="0" anchor="ctr"/>
          <a:lstStyle/>
          <a:p>
            <a:pPr marL="0" indent="0" algn="ctr">
              <a:buNone/>
            </a:pPr>
            <a:r>
              <a:rPr lang="en-US" sz="1600" b="1" dirty="0">
                <a:solidFill>
                  <a:schemeClr val="tx2"/>
                </a:solidFill>
              </a:rPr>
              <a:t>PostgreSQL 16</a:t>
            </a:r>
            <a:endParaRPr lang="en-US" sz="1600" dirty="0"/>
          </a:p>
          <a:p>
            <a:pPr marL="0" indent="0" algn="ctr">
              <a:buNone/>
            </a:pPr>
            <a:r>
              <a:rPr lang="en-US" sz="1200" dirty="0">
                <a:solidFill>
                  <a:schemeClr val="accent4"/>
                </a:solidFill>
              </a:rPr>
              <a:t>80 structures</a:t>
            </a:r>
            <a:endParaRPr lang="en-US" sz="1600" dirty="0"/>
          </a:p>
        </p:txBody>
      </p:sp>
      <p:sp>
        <p:nvSpPr>
          <p:cNvPr id="12" name="fleche-44"/>
          <p:cNvSpPr/>
          <p:nvPr/>
        </p:nvSpPr>
        <p:spPr>
          <a:xfrm>
            <a:off x="2377440" y="2971800"/>
            <a:ext cx="822960" cy="0"/>
          </a:xfrm>
          <a:prstGeom prst="line">
            <a:avLst/>
          </a:prstGeom>
          <a:noFill/>
          <a:ln w="22225">
            <a:solidFill>
              <a:schemeClr val="accent4"/>
            </a:solidFill>
            <a:prstDash val="solid"/>
            <a:tailEnd type="triangle"/>
          </a:ln>
        </p:spPr>
      </p:sp>
      <p:sp>
        <p:nvSpPr>
          <p:cNvPr id="13" name="fleche-45"/>
          <p:cNvSpPr/>
          <p:nvPr/>
        </p:nvSpPr>
        <p:spPr>
          <a:xfrm>
            <a:off x="6492240" y="2971800"/>
            <a:ext cx="1280160" cy="0"/>
          </a:xfrm>
          <a:prstGeom prst="line">
            <a:avLst/>
          </a:prstGeom>
          <a:noFill/>
          <a:ln w="22225">
            <a:solidFill>
              <a:schemeClr val="accent4"/>
            </a:solidFill>
            <a:prstDash val="solid"/>
            <a:tailEnd type="triangle"/>
          </a:ln>
        </p:spPr>
      </p:sp>
      <p:sp>
        <p:nvSpPr>
          <p:cNvPr id="14" name="fleche-46"/>
          <p:cNvSpPr/>
          <p:nvPr/>
        </p:nvSpPr>
        <p:spPr>
          <a:xfrm>
            <a:off x="9601200" y="2971800"/>
            <a:ext cx="640080" cy="0"/>
          </a:xfrm>
          <a:prstGeom prst="line">
            <a:avLst/>
          </a:prstGeom>
          <a:noFill/>
          <a:ln w="22225">
            <a:solidFill>
              <a:schemeClr val="accent4"/>
            </a:solidFill>
            <a:prstDash val="solid"/>
            <a:tailEnd type="triangle"/>
          </a:ln>
        </p:spPr>
      </p:sp>
      <p:sp>
        <p:nvSpPr>
          <p:cNvPr id="15" name="texte-47"/>
          <p:cNvSpPr txBox="1"/>
          <p:nvPr/>
        </p:nvSpPr>
        <p:spPr>
          <a:xfrm>
            <a:off x="2377440" y="2514600"/>
            <a:ext cx="822960" cy="411480"/>
          </a:xfrm>
          <a:prstGeom prst="rect">
            <a:avLst/>
          </a:prstGeom>
          <a:noFill/>
          <a:ln/>
        </p:spPr>
        <p:txBody>
          <a:bodyPr wrap="square" lIns="0" tIns="0" rIns="0" bIns="0" rtlCol="0" anchor="b"/>
          <a:lstStyle/>
          <a:p>
            <a:pPr marL="0" indent="0" algn="ctr">
              <a:buNone/>
            </a:pPr>
            <a:r>
              <a:rPr lang="en-US" sz="1100" dirty="0">
                <a:solidFill>
                  <a:schemeClr val="accent4"/>
                </a:solidFill>
              </a:rPr>
              <a:t>HTTPS + JWT</a:t>
            </a:r>
            <a:endParaRPr lang="en-US" sz="1100" dirty="0"/>
          </a:p>
        </p:txBody>
      </p:sp>
      <p:sp>
        <p:nvSpPr>
          <p:cNvPr id="16" name="texte-48"/>
          <p:cNvSpPr txBox="1"/>
          <p:nvPr/>
        </p:nvSpPr>
        <p:spPr>
          <a:xfrm>
            <a:off x="6492240" y="2606040"/>
            <a:ext cx="1280160" cy="274320"/>
          </a:xfrm>
          <a:prstGeom prst="rect">
            <a:avLst/>
          </a:prstGeom>
          <a:noFill/>
          <a:ln/>
        </p:spPr>
        <p:txBody>
          <a:bodyPr wrap="square" lIns="0" tIns="0" rIns="0" bIns="0" rtlCol="0" anchor="t"/>
          <a:lstStyle/>
          <a:p>
            <a:pPr marL="0" indent="0" algn="ctr">
              <a:buNone/>
            </a:pPr>
            <a:r>
              <a:rPr lang="en-US" sz="1100" dirty="0">
                <a:solidFill>
                  <a:schemeClr val="accent4"/>
                </a:solidFill>
              </a:rPr>
              <a:t>api:8000/v1</a:t>
            </a:r>
            <a:endParaRPr lang="en-US" sz="1100" dirty="0"/>
          </a:p>
        </p:txBody>
      </p:sp>
      <p:sp>
        <p:nvSpPr>
          <p:cNvPr id="17" name="texte-49"/>
          <p:cNvSpPr txBox="1"/>
          <p:nvPr/>
        </p:nvSpPr>
        <p:spPr>
          <a:xfrm>
            <a:off x="9601200" y="2606040"/>
            <a:ext cx="640080" cy="274320"/>
          </a:xfrm>
          <a:prstGeom prst="rect">
            <a:avLst/>
          </a:prstGeom>
          <a:noFill/>
          <a:ln/>
        </p:spPr>
        <p:txBody>
          <a:bodyPr wrap="square" lIns="0" tIns="0" rIns="0" bIns="0" rtlCol="0" anchor="t"/>
          <a:lstStyle/>
          <a:p>
            <a:pPr marL="0" indent="0" algn="ctr">
              <a:buNone/>
            </a:pPr>
            <a:r>
              <a:rPr lang="en-US" sz="1100" dirty="0">
                <a:solidFill>
                  <a:schemeClr val="accent4"/>
                </a:solidFill>
              </a:rPr>
              <a:t>SQL</a:t>
            </a:r>
            <a:endParaRPr lang="en-US" sz="1100" dirty="0"/>
          </a:p>
        </p:txBody>
      </p:sp>
      <p:sp>
        <p:nvSpPr>
          <p:cNvPr id="18" name="carte-50"/>
          <p:cNvSpPr/>
          <p:nvPr/>
        </p:nvSpPr>
        <p:spPr>
          <a:xfrm>
            <a:off x="548640" y="4800600"/>
            <a:ext cx="11109960" cy="1234440"/>
          </a:xfrm>
          <a:prstGeom prst="roundRect">
            <a:avLst>
              <a:gd name="adj" fmla="val 8889"/>
            </a:avLst>
          </a:prstGeom>
          <a:solidFill>
            <a:schemeClr val="bg2"/>
          </a:solidFill>
          <a:ln w="12700">
            <a:solidFill>
              <a:schemeClr val="bg2"/>
            </a:solidFill>
            <a:prstDash val="solid"/>
          </a:ln>
        </p:spPr>
      </p:sp>
      <p:sp>
        <p:nvSpPr>
          <p:cNvPr id="19" name="texte-51"/>
          <p:cNvSpPr txBox="1"/>
          <p:nvPr/>
        </p:nvSpPr>
        <p:spPr>
          <a:xfrm>
            <a:off x="822960" y="4983480"/>
            <a:ext cx="10607040" cy="914400"/>
          </a:xfrm>
          <a:prstGeom prst="rect">
            <a:avLst/>
          </a:prstGeom>
          <a:noFill/>
          <a:ln/>
        </p:spPr>
        <p:txBody>
          <a:bodyPr wrap="square" lIns="0" tIns="0" rIns="0" bIns="0" rtlCol="0" anchor="t"/>
          <a:lstStyle/>
          <a:p>
            <a:pPr marL="0" indent="0">
              <a:spcAft>
                <a:spcPts val="600"/>
              </a:spcAft>
              <a:buNone/>
            </a:pPr>
            <a:r>
              <a:rPr lang="en-US" sz="1400" b="1" dirty="0">
                <a:solidFill>
                  <a:schemeClr val="tx2"/>
                </a:solidFill>
              </a:rPr>
              <a:t>Routage par version  </a:t>
            </a:r>
            <a:r>
              <a:rPr lang="en-US" sz="1400" dirty="0">
                <a:solidFill>
                  <a:schemeClr val="tx1"/>
                </a:solidFill>
              </a:rPr>
              <a:t>/structures/1.0.0/*  →  http://api:8000/v1/*      /structures/2.0.0/*  →  http://api:8000/v2/*</a:t>
            </a:r>
            <a:endParaRPr lang="en-US" sz="1400" dirty="0"/>
          </a:p>
          <a:p>
            <a:pPr marL="0" indent="0">
              <a:spcAft>
                <a:spcPts val="600"/>
              </a:spcAft>
              <a:buNone/>
            </a:pPr>
            <a:r>
              <a:rPr lang="en-US" sz="1400" b="1" dirty="0">
                <a:solidFill>
                  <a:schemeClr val="tx2"/>
                </a:solidFill>
              </a:rPr>
              <a:t>Installation  </a:t>
            </a:r>
            <a:r>
              <a:rPr lang="en-US" sz="1400" dirty="0">
                <a:solidFill>
                  <a:schemeClr val="tx1"/>
                </a:solidFill>
              </a:rPr>
              <a:t>docker compose up -d --build, puis python wso2/wso2ctl.py setup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Une API de consultation simple et stricte</a:t>
            </a:r>
            <a:endParaRPr lang="en-US" sz="3200" dirty="0"/>
          </a:p>
        </p:txBody>
      </p:sp>
      <p:sp>
        <p:nvSpPr>
          <p:cNvPr id="4" name="texte-52"/>
          <p:cNvSpPr txBox="1"/>
          <p:nvPr/>
        </p:nvSpPr>
        <p:spPr>
          <a:xfrm>
            <a:off x="548640" y="1463040"/>
            <a:ext cx="2377440" cy="868680"/>
          </a:xfrm>
          <a:prstGeom prst="rect">
            <a:avLst/>
          </a:prstGeom>
          <a:noFill/>
          <a:ln/>
        </p:spPr>
        <p:txBody>
          <a:bodyPr wrap="square" lIns="0" tIns="0" rIns="0" bIns="0" rtlCol="0" anchor="t"/>
          <a:lstStyle/>
          <a:p>
            <a:pPr marL="0" indent="0">
              <a:buNone/>
            </a:pPr>
            <a:r>
              <a:rPr lang="en-US" sz="6000" b="1" dirty="0">
                <a:solidFill>
                  <a:schemeClr val="accent1"/>
                </a:solidFill>
                <a:latin typeface="Cambria" pitchFamily="34" charset="0"/>
                <a:ea typeface="Cambria" pitchFamily="34" charset="-122"/>
                <a:cs typeface="Cambria" pitchFamily="34" charset="-120"/>
              </a:rPr>
              <a:t>80</a:t>
            </a:r>
            <a:endParaRPr lang="en-US" sz="6000" dirty="0"/>
          </a:p>
        </p:txBody>
      </p:sp>
      <p:sp>
        <p:nvSpPr>
          <p:cNvPr id="5" name="texte-53"/>
          <p:cNvSpPr txBox="1"/>
          <p:nvPr/>
        </p:nvSpPr>
        <p:spPr>
          <a:xfrm>
            <a:off x="548640" y="2331720"/>
            <a:ext cx="2560320" cy="365760"/>
          </a:xfrm>
          <a:prstGeom prst="rect">
            <a:avLst/>
          </a:prstGeom>
          <a:noFill/>
          <a:ln/>
        </p:spPr>
        <p:txBody>
          <a:bodyPr wrap="square" lIns="0" tIns="0" rIns="0" bIns="0" rtlCol="0" anchor="t"/>
          <a:lstStyle/>
          <a:p>
            <a:pPr marL="0" indent="0">
              <a:buNone/>
            </a:pPr>
            <a:r>
              <a:rPr lang="en-US" sz="1400" dirty="0">
                <a:solidFill>
                  <a:schemeClr val="accent4"/>
                </a:solidFill>
              </a:rPr>
              <a:t>structures fictives</a:t>
            </a:r>
            <a:endParaRPr lang="en-US" sz="1400" dirty="0"/>
          </a:p>
        </p:txBody>
      </p:sp>
      <p:sp>
        <p:nvSpPr>
          <p:cNvPr id="6" name="texte-54"/>
          <p:cNvSpPr txBox="1"/>
          <p:nvPr/>
        </p:nvSpPr>
        <p:spPr>
          <a:xfrm>
            <a:off x="548640" y="3063240"/>
            <a:ext cx="2377440" cy="868680"/>
          </a:xfrm>
          <a:prstGeom prst="rect">
            <a:avLst/>
          </a:prstGeom>
          <a:noFill/>
          <a:ln/>
        </p:spPr>
        <p:txBody>
          <a:bodyPr wrap="square" lIns="0" tIns="0" rIns="0" bIns="0" rtlCol="0" anchor="t"/>
          <a:lstStyle/>
          <a:p>
            <a:pPr marL="0" indent="0">
              <a:buNone/>
            </a:pPr>
            <a:r>
              <a:rPr lang="en-US" sz="6000" b="1" dirty="0">
                <a:solidFill>
                  <a:schemeClr val="accent1"/>
                </a:solidFill>
                <a:latin typeface="Cambria" pitchFamily="34" charset="0"/>
                <a:ea typeface="Cambria" pitchFamily="34" charset="-122"/>
                <a:cs typeface="Cambria" pitchFamily="34" charset="-120"/>
              </a:rPr>
              <a:t>3</a:t>
            </a:r>
            <a:endParaRPr lang="en-US" sz="6000" dirty="0"/>
          </a:p>
        </p:txBody>
      </p:sp>
      <p:sp>
        <p:nvSpPr>
          <p:cNvPr id="7" name="texte-55"/>
          <p:cNvSpPr txBox="1"/>
          <p:nvPr/>
        </p:nvSpPr>
        <p:spPr>
          <a:xfrm>
            <a:off x="548640" y="3931920"/>
            <a:ext cx="2560320" cy="365760"/>
          </a:xfrm>
          <a:prstGeom prst="rect">
            <a:avLst/>
          </a:prstGeom>
          <a:noFill/>
          <a:ln/>
        </p:spPr>
        <p:txBody>
          <a:bodyPr wrap="square" lIns="0" tIns="0" rIns="0" bIns="0" rtlCol="0" anchor="t"/>
          <a:lstStyle/>
          <a:p>
            <a:pPr marL="0" indent="0">
              <a:buNone/>
            </a:pPr>
            <a:r>
              <a:rPr lang="en-US" sz="1400" dirty="0">
                <a:solidFill>
                  <a:schemeClr val="accent4"/>
                </a:solidFill>
              </a:rPr>
              <a:t>routes GET par version</a:t>
            </a:r>
            <a:endParaRPr lang="en-US" sz="1400" dirty="0"/>
          </a:p>
        </p:txBody>
      </p:sp>
      <p:sp>
        <p:nvSpPr>
          <p:cNvPr id="8" name="texte-56"/>
          <p:cNvSpPr txBox="1"/>
          <p:nvPr/>
        </p:nvSpPr>
        <p:spPr>
          <a:xfrm>
            <a:off x="548640" y="4663440"/>
            <a:ext cx="2377440" cy="868680"/>
          </a:xfrm>
          <a:prstGeom prst="rect">
            <a:avLst/>
          </a:prstGeom>
          <a:noFill/>
          <a:ln/>
        </p:spPr>
        <p:txBody>
          <a:bodyPr wrap="square" lIns="0" tIns="0" rIns="0" bIns="0" rtlCol="0" anchor="t"/>
          <a:lstStyle/>
          <a:p>
            <a:pPr marL="0" indent="0">
              <a:buNone/>
            </a:pPr>
            <a:r>
              <a:rPr lang="en-US" sz="6000" b="1" dirty="0">
                <a:solidFill>
                  <a:schemeClr val="accent1"/>
                </a:solidFill>
                <a:latin typeface="Cambria" pitchFamily="34" charset="0"/>
                <a:ea typeface="Cambria" pitchFamily="34" charset="-122"/>
                <a:cs typeface="Cambria" pitchFamily="34" charset="-120"/>
              </a:rPr>
              <a:t>30</a:t>
            </a:r>
            <a:endParaRPr lang="en-US" sz="6000" dirty="0"/>
          </a:p>
        </p:txBody>
      </p:sp>
      <p:sp>
        <p:nvSpPr>
          <p:cNvPr id="9" name="texte-57"/>
          <p:cNvSpPr txBox="1"/>
          <p:nvPr/>
        </p:nvSpPr>
        <p:spPr>
          <a:xfrm>
            <a:off x="548640" y="5532120"/>
            <a:ext cx="2560320" cy="365760"/>
          </a:xfrm>
          <a:prstGeom prst="rect">
            <a:avLst/>
          </a:prstGeom>
          <a:noFill/>
          <a:ln/>
        </p:spPr>
        <p:txBody>
          <a:bodyPr wrap="square" lIns="0" tIns="0" rIns="0" bIns="0" rtlCol="0" anchor="t"/>
          <a:lstStyle/>
          <a:p>
            <a:pPr marL="0" indent="0">
              <a:buNone/>
            </a:pPr>
            <a:r>
              <a:rPr lang="en-US" sz="1400" dirty="0">
                <a:solidFill>
                  <a:schemeClr val="accent4"/>
                </a:solidFill>
              </a:rPr>
              <a:t>tests pytest au vert</a:t>
            </a:r>
            <a:endParaRPr lang="en-US" sz="1400" dirty="0"/>
          </a:p>
        </p:txBody>
      </p:sp>
      <p:graphicFrame>
        <p:nvGraphicFramePr>
          <p:cNvPr id="3" name="table-routes"/>
          <p:cNvGraphicFramePr>
            <a:graphicFrameLocks noGrp="1"/>
          </p:cNvGraphicFramePr>
          <p:nvPr>
            <p:extLst>
              <p:ext uri="{D42A27DB-BD31-4B8C-83A1-F6EECF244321}">
                <p14:modId xmlns:p14="http://schemas.microsoft.com/office/powerpoint/2010/main" val="1579011935"/>
              </p:ext>
            </p:extLst>
          </p:nvPr>
        </p:nvGraphicFramePr>
        <p:xfrm>
          <a:off x="3474720" y="1463040"/>
          <a:ext cx="8183880" cy="2514600"/>
        </p:xfrm>
        <a:graphic>
          <a:graphicData uri="http://schemas.openxmlformats.org/drawingml/2006/table">
            <a:tbl>
              <a:tblPr/>
              <a:tblGrid>
                <a:gridCol w="283464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502920">
                <a:tc>
                  <a:txBody>
                    <a:bodyPr/>
                    <a:lstStyle/>
                    <a:p>
                      <a:pPr marL="0" indent="0">
                        <a:buNone/>
                      </a:pPr>
                      <a:r>
                        <a:rPr lang="en-US" sz="1400" b="1" dirty="0">
                          <a:solidFill>
                            <a:schemeClr val="bg1"/>
                          </a:solidFill>
                        </a:rPr>
                        <a:t>Route</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Paramètres</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Réponses</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GET /structures</a:t>
                      </a:r>
                      <a:endParaRPr lang="en-US" sz="1400" dirty="0">
                        <a:latin typeface="Courier New" charset="0"/>
                        <a:ea typeface="Courier New" charset="0"/>
                        <a:cs typeface="Courier New" charset="0"/>
                      </a:endParaRPr>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page, size, region, type, statut</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200 · 400</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GET /structures/search</a:t>
                      </a:r>
                      <a:endParaRPr lang="en-US" sz="1400" dirty="0">
                        <a:latin typeface="Courier New" charset="0"/>
                        <a:ea typeface="Courier New" charset="0"/>
                        <a:cs typeface="Courier New" charset="0"/>
                      </a:endParaRPr>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 (obligatoire), page, size, region, type</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200 · 400</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GET /structures/{id}</a:t>
                      </a:r>
                      <a:endParaRPr lang="en-US" sz="1400" dirty="0">
                        <a:latin typeface="Courier New" charset="0"/>
                        <a:ea typeface="Courier New" charset="0"/>
                        <a:cs typeface="Courier New" charset="0"/>
                      </a:endParaRPr>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id entier ≥ 1</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200 · 400 · 404</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chemeClr val="tx1"/>
                          </a:solidFill>
                          <a:latin typeface="Courier New" pitchFamily="34" charset="0"/>
                          <a:ea typeface="Courier New" pitchFamily="34" charset="-122"/>
                          <a:cs typeface="Courier New" pitchFamily="34" charset="-120"/>
                        </a:rPr>
                        <a:t>GET /health (direct)</a:t>
                      </a:r>
                      <a:endParaRPr lang="en-US" sz="1400" dirty="0">
                        <a:latin typeface="Courier New" charset="0"/>
                        <a:ea typeface="Courier New" charset="0"/>
                        <a:cs typeface="Courier New" charset="0"/>
                      </a:endParaRPr>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aucun, supervision du backend</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200 · 503</a:t>
                      </a:r>
                      <a:endParaRPr lang="en-US" sz="1400" dirty="0"/>
                    </a:p>
                  </a:txBody>
                  <a:tcPr marL="109728" marR="109728" marT="54864" marB="54864"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1" name="carte-58"/>
          <p:cNvSpPr/>
          <p:nvPr/>
        </p:nvSpPr>
        <p:spPr>
          <a:xfrm>
            <a:off x="3474720" y="4343400"/>
            <a:ext cx="8183880" cy="1600200"/>
          </a:xfrm>
          <a:prstGeom prst="roundRect">
            <a:avLst>
              <a:gd name="adj" fmla="val 6857"/>
            </a:avLst>
          </a:prstGeom>
          <a:solidFill>
            <a:schemeClr val="bg2"/>
          </a:solidFill>
          <a:ln w="12700">
            <a:solidFill>
              <a:schemeClr val="bg2"/>
            </a:solidFill>
            <a:prstDash val="solid"/>
          </a:ln>
        </p:spPr>
      </p:sp>
      <p:sp>
        <p:nvSpPr>
          <p:cNvPr id="12" name="texte-59"/>
          <p:cNvSpPr txBox="1"/>
          <p:nvPr/>
        </p:nvSpPr>
        <p:spPr>
          <a:xfrm>
            <a:off x="3749040" y="4526280"/>
            <a:ext cx="7680960" cy="1280160"/>
          </a:xfrm>
          <a:prstGeom prst="rect">
            <a:avLst/>
          </a:prstGeom>
          <a:noFill/>
          <a:ln/>
        </p:spPr>
        <p:txBody>
          <a:bodyPr wrap="square" lIns="0" tIns="0" rIns="0" bIns="0" rtlCol="0" anchor="t"/>
          <a:lstStyle/>
          <a:p>
            <a:pPr marL="0" indent="0">
              <a:spcAft>
                <a:spcPts val="800"/>
              </a:spcAft>
              <a:buNone/>
            </a:pPr>
            <a:r>
              <a:rPr lang="en-US" sz="1400" b="1" dirty="0">
                <a:solidFill>
                  <a:schemeClr val="tx2"/>
                </a:solidFill>
              </a:rPr>
              <a:t>Format d'erreur unique</a:t>
            </a:r>
            <a:endParaRPr lang="en-US" sz="1400" dirty="0"/>
          </a:p>
          <a:p>
            <a:pPr marL="0" indent="0">
              <a:spcAft>
                <a:spcPts val="800"/>
              </a:spcAft>
              <a:buNone/>
            </a:pPr>
            <a:r>
              <a:rPr lang="en-US" sz="1200" dirty="0">
                <a:solidFill>
                  <a:schemeClr val="tx1"/>
                </a:solidFill>
                <a:latin typeface="Courier New" pitchFamily="34" charset="0"/>
                <a:ea typeface="Courier New" pitchFamily="34" charset="-122"/>
                <a:cs typeface="Courier New" pitchFamily="34" charset="-120"/>
              </a:rPr>
              <a:t>{ "code": "STRUCTURE_NOT_FOUND", "message": "...", "details": [], "path": "/v1/structures/9999", "timestamp": "..." }</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Le contrat OpenAPI documente chaque erreur</a:t>
            </a:r>
            <a:endParaRPr lang="en-US" sz="3200" dirty="0"/>
          </a:p>
        </p:txBody>
      </p:sp>
      <p:graphicFrame>
        <p:nvGraphicFramePr>
          <p:cNvPr id="6" name="table-erreurs"/>
          <p:cNvGraphicFramePr>
            <a:graphicFrameLocks noGrp="1"/>
          </p:cNvGraphicFramePr>
          <p:nvPr>
            <p:extLst>
              <p:ext uri="{D42A27DB-BD31-4B8C-83A1-F6EECF244321}">
                <p14:modId xmlns:p14="http://schemas.microsoft.com/office/powerpoint/2010/main" val="1579011935"/>
              </p:ext>
            </p:extLst>
          </p:nvPr>
        </p:nvGraphicFramePr>
        <p:xfrm>
          <a:off x="548640" y="1371600"/>
          <a:ext cx="7863840" cy="4279392"/>
        </p:xfrm>
        <a:graphic>
          <a:graphicData uri="http://schemas.openxmlformats.org/drawingml/2006/table">
            <a:tbl>
              <a:tblPr/>
              <a:tblGrid>
                <a:gridCol w="8229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475488">
                <a:tc>
                  <a:txBody>
                    <a:bodyPr/>
                    <a:lstStyle/>
                    <a:p>
                      <a:pPr marL="0" indent="0">
                        <a:buNone/>
                      </a:pPr>
                      <a:r>
                        <a:rPr lang="en-US" sz="1400" b="1" dirty="0">
                          <a:solidFill>
                            <a:schemeClr val="bg1"/>
                          </a:solidFill>
                        </a:rPr>
                        <a:t>HTTP</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Code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Produit par</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Cause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chemeClr val="tx1"/>
                          </a:solidFill>
                        </a:rPr>
                        <a:t>400</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VALIDATION_ERROR</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1"/>
                          </a:solidFill>
                        </a:rPr>
                        <a:t>Backend</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Paramètre invalide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chemeClr val="tx1"/>
                          </a:solidFill>
                        </a:rPr>
                        <a:t>401</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900902 / 900901</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Passerelle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Jeton absent / invalide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chemeClr val="tx1"/>
                          </a:solidFill>
                        </a:rPr>
                        <a:t>401</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900907</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Passerelle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Souscription bloquée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chemeClr val="tx1"/>
                          </a:solidFill>
                        </a:rPr>
                        <a:t>403</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900908</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Passerelle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Application non abonnée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75488">
                <a:tc>
                  <a:txBody>
                    <a:bodyPr/>
                    <a:lstStyle/>
                    <a:p>
                      <a:pPr marL="0" indent="0">
                        <a:buNone/>
                      </a:pPr>
                      <a:r>
                        <a:rPr lang="en-US" sz="1400" dirty="0">
                          <a:solidFill>
                            <a:schemeClr val="tx1"/>
                          </a:solidFill>
                        </a:rPr>
                        <a:t>404</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STRUCTURE_NOT_FOUND</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1"/>
                          </a:solidFill>
                        </a:rPr>
                        <a:t>Backend</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Identifiant inexistant</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75488">
                <a:tc>
                  <a:txBody>
                    <a:bodyPr/>
                    <a:lstStyle/>
                    <a:p>
                      <a:pPr marL="0" indent="0">
                        <a:buNone/>
                      </a:pPr>
                      <a:r>
                        <a:rPr lang="en-US" sz="1400" dirty="0">
                          <a:solidFill>
                            <a:schemeClr val="tx1"/>
                          </a:solidFill>
                        </a:rPr>
                        <a:t>429</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900804</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Passerelle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Quota du plan dépassé</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75488">
                <a:tc>
                  <a:txBody>
                    <a:bodyPr/>
                    <a:lstStyle/>
                    <a:p>
                      <a:pPr marL="0" indent="0">
                        <a:buNone/>
                      </a:pPr>
                      <a:r>
                        <a:rPr lang="en-US" sz="1400" dirty="0">
                          <a:solidFill>
                            <a:schemeClr val="tx1"/>
                          </a:solidFill>
                        </a:rPr>
                        <a:t>503</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700700</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Passerelle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API bloquée (retrait)</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75488">
                <a:tc>
                  <a:txBody>
                    <a:bodyPr/>
                    <a:lstStyle/>
                    <a:p>
                      <a:pPr marL="0" indent="0">
                        <a:buNone/>
                      </a:pPr>
                      <a:r>
                        <a:rPr lang="en-US" sz="1400" dirty="0">
                          <a:solidFill>
                            <a:schemeClr val="tx1"/>
                          </a:solidFill>
                        </a:rPr>
                        <a:t>500</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101503</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Passerelle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Backend injoignable (panne)</a:t>
                      </a:r>
                      <a:endParaRPr lang="en-US" sz="1400" dirty="0"/>
                    </a:p>
                  </a:txBody>
                  <a:tcPr marL="109728" marR="109728" marT="36576" marB="36576" anchor="ctr">
                    <a:lnL w="6350" cap="flat" cmpd="sng" algn="ctr">
                      <a:solidFill>
                        <a:srgbClr val="D5E3DF"/>
                      </a:solidFill>
                      <a:prstDash val="solid"/>
                      <a:round/>
                      <a:headEnd type="none" w="med" len="med"/>
                      <a:tailEnd type="none" w="med" len="med"/>
                    </a:lnL>
                    <a:lnR w="6350" cap="flat" cmpd="sng" algn="ctr">
                      <a:solidFill>
                        <a:srgbClr val="D5E3DF"/>
                      </a:solidFill>
                      <a:prstDash val="solid"/>
                      <a:round/>
                      <a:headEnd type="none" w="med" len="med"/>
                      <a:tailEnd type="none" w="med" len="med"/>
                    </a:lnR>
                    <a:lnT w="6350" cap="flat" cmpd="sng" algn="ctr">
                      <a:solidFill>
                        <a:srgbClr val="D5E3DF"/>
                      </a:solidFill>
                      <a:prstDash val="solid"/>
                      <a:round/>
                      <a:headEnd type="none" w="med" len="med"/>
                      <a:tailEnd type="none" w="med" len="med"/>
                    </a:lnT>
                    <a:lnB w="6350" cap="flat" cmpd="sng" algn="ctr">
                      <a:solidFill>
                        <a:srgbClr val="D5E3DF"/>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sp>
        <p:nvSpPr>
          <p:cNvPr id="5" name="carte-60"/>
          <p:cNvSpPr/>
          <p:nvPr/>
        </p:nvSpPr>
        <p:spPr>
          <a:xfrm>
            <a:off x="8732520" y="1371600"/>
            <a:ext cx="2926080" cy="4279392"/>
          </a:xfrm>
          <a:prstGeom prst="roundRect">
            <a:avLst>
              <a:gd name="adj" fmla="val 3750"/>
            </a:avLst>
          </a:prstGeom>
          <a:solidFill>
            <a:schemeClr val="bg2"/>
          </a:solidFill>
          <a:ln w="12700">
            <a:solidFill>
              <a:schemeClr val="bg2"/>
            </a:solidFill>
            <a:prstDash val="solid"/>
          </a:ln>
        </p:spPr>
      </p:sp>
      <p:sp>
        <p:nvSpPr>
          <p:cNvPr id="3" name="texte-61"/>
          <p:cNvSpPr txBox="1"/>
          <p:nvPr/>
        </p:nvSpPr>
        <p:spPr>
          <a:xfrm>
            <a:off x="8961120" y="1600200"/>
            <a:ext cx="2514600" cy="3840480"/>
          </a:xfrm>
          <a:prstGeom prst="rect">
            <a:avLst/>
          </a:prstGeom>
          <a:noFill/>
          <a:ln/>
        </p:spPr>
        <p:txBody>
          <a:bodyPr wrap="square" lIns="0" tIns="0" rIns="0" bIns="0" rtlCol="0" anchor="t"/>
          <a:lstStyle/>
          <a:p>
            <a:pPr marL="0" indent="0">
              <a:spcAft>
                <a:spcPts val="600"/>
              </a:spcAft>
              <a:buNone/>
            </a:pPr>
            <a:r>
              <a:rPr lang="en-US" sz="1700" b="1" dirty="0">
                <a:solidFill>
                  <a:schemeClr val="tx2"/>
                </a:solidFill>
              </a:rPr>
              <a:t>v1.yaml et v2.yaml</a:t>
            </a:r>
            <a:endParaRPr lang="en-US" sz="1400" dirty="0"/>
          </a:p>
          <a:p>
            <a:pPr marL="0" indent="0">
              <a:spcAft>
                <a:spcPts val="600"/>
              </a:spcAft>
              <a:buNone/>
            </a:pPr>
            <a:r>
              <a:rPr lang="en-US" sz="1400" dirty="0">
                <a:solidFill>
                  <a:schemeClr val="tx1"/>
                </a:solidFill>
              </a:rPr>
              <a:t>OpenAPI 3.0.3, validés par openapi-spec-validator</a:t>
            </a:r>
            <a:endParaRPr lang="en-US" sz="1400" dirty="0"/>
          </a:p>
          <a:p>
            <a:pPr marL="0" indent="0">
              <a:spcAft>
                <a:spcPts val="600"/>
              </a:spcAft>
              <a:buNone/>
            </a:pPr>
            <a:r>
              <a:rPr lang="en-US" sz="800" dirty="0">
                <a:solidFill>
                  <a:schemeClr val="tx1"/>
                </a:solidFill>
              </a:rPr>
              <a:t> </a:t>
            </a:r>
            <a:endParaRPr lang="en-US" sz="1400" dirty="0"/>
          </a:p>
          <a:p>
            <a:pPr marL="0" indent="0">
              <a:spcAft>
                <a:spcPts val="600"/>
              </a:spcAft>
              <a:buNone/>
            </a:pPr>
            <a:r>
              <a:rPr lang="en-US" sz="1700" b="1" dirty="0">
                <a:solidFill>
                  <a:schemeClr val="tx2"/>
                </a:solidFill>
              </a:rPr>
              <a:t>Vérifiés par les tests</a:t>
            </a:r>
            <a:endParaRPr lang="en-US" sz="1400" dirty="0"/>
          </a:p>
          <a:p>
            <a:pPr marL="0" indent="0">
              <a:spcAft>
                <a:spcPts val="600"/>
              </a:spcAft>
              <a:buNone/>
            </a:pPr>
            <a:r>
              <a:rPr lang="en-US" sz="1400" dirty="0">
                <a:solidFill>
                  <a:schemeClr val="tx1"/>
                </a:solidFill>
              </a:rPr>
              <a:t>test_contrat.py compare chaque réponse réelle au schéma du contrat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Un jeton, une souscription, un quota</a:t>
            </a:r>
            <a:endParaRPr lang="en-US" sz="3200" dirty="0"/>
          </a:p>
        </p:txBody>
      </p:sp>
      <p:sp>
        <p:nvSpPr>
          <p:cNvPr id="4" name="carte-62"/>
          <p:cNvSpPr/>
          <p:nvPr/>
        </p:nvSpPr>
        <p:spPr>
          <a:xfrm>
            <a:off x="548640" y="1463040"/>
            <a:ext cx="2606040" cy="2377440"/>
          </a:xfrm>
          <a:prstGeom prst="roundRect">
            <a:avLst>
              <a:gd name="adj" fmla="val 4615"/>
            </a:avLst>
          </a:prstGeom>
          <a:solidFill>
            <a:schemeClr val="bg2"/>
          </a:solidFill>
          <a:ln w="12700">
            <a:solidFill>
              <a:schemeClr val="bg2"/>
            </a:solidFill>
            <a:prstDash val="solid"/>
          </a:ln>
        </p:spPr>
      </p:sp>
      <p:sp>
        <p:nvSpPr>
          <p:cNvPr id="5" name="pastille-63"/>
          <p:cNvSpPr/>
          <p:nvPr/>
        </p:nvSpPr>
        <p:spPr>
          <a:xfrm>
            <a:off x="777240" y="1691640"/>
            <a:ext cx="502920" cy="502920"/>
          </a:xfrm>
          <a:prstGeom prst="ellipse">
            <a:avLst/>
          </a:prstGeom>
          <a:solidFill>
            <a:schemeClr val="accent1"/>
          </a:solidFill>
          <a:ln w="12700">
            <a:solidFill>
              <a:schemeClr val="accent1"/>
            </a:solidFill>
            <a:prstDash val="solid"/>
          </a:ln>
        </p:spPr>
      </p:sp>
      <p:sp>
        <p:nvSpPr>
          <p:cNvPr id="6" name="num-64"/>
          <p:cNvSpPr txBox="1"/>
          <p:nvPr/>
        </p:nvSpPr>
        <p:spPr>
          <a:xfrm>
            <a:off x="777240" y="169164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e-65"/>
          <p:cNvSpPr txBox="1"/>
          <p:nvPr/>
        </p:nvSpPr>
        <p:spPr>
          <a:xfrm>
            <a:off x="777240" y="23317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Plan</a:t>
            </a:r>
            <a:endParaRPr lang="en-US" sz="1700" dirty="0"/>
          </a:p>
        </p:txBody>
      </p:sp>
      <p:sp>
        <p:nvSpPr>
          <p:cNvPr id="8" name="texte-66"/>
          <p:cNvSpPr txBox="1"/>
          <p:nvPr/>
        </p:nvSpPr>
        <p:spPr>
          <a:xfrm>
            <a:off x="777240" y="2743200"/>
            <a:ext cx="2194560" cy="1005840"/>
          </a:xfrm>
          <a:prstGeom prst="rect">
            <a:avLst/>
          </a:prstGeom>
          <a:noFill/>
          <a:ln/>
        </p:spPr>
        <p:txBody>
          <a:bodyPr wrap="square" lIns="0" tIns="0" rIns="0" bIns="0" rtlCol="0" anchor="t"/>
          <a:lstStyle/>
          <a:p>
            <a:pPr marL="0" indent="0">
              <a:buNone/>
            </a:pPr>
            <a:r>
              <a:rPr lang="en-US" sz="1400" dirty="0">
                <a:solidFill>
                  <a:schemeClr val="tx1"/>
                </a:solidFill>
              </a:rPr>
              <a:t>Admin Portal : Plan10ParMinute, 10 requêtes/min, rejet au-delà</a:t>
            </a:r>
            <a:endParaRPr lang="en-US" sz="1400" dirty="0"/>
          </a:p>
        </p:txBody>
      </p:sp>
      <p:sp>
        <p:nvSpPr>
          <p:cNvPr id="9" name="fleche-67"/>
          <p:cNvSpPr/>
          <p:nvPr/>
        </p:nvSpPr>
        <p:spPr>
          <a:xfrm>
            <a:off x="3154680" y="2651760"/>
            <a:ext cx="228600" cy="0"/>
          </a:xfrm>
          <a:prstGeom prst="line">
            <a:avLst/>
          </a:prstGeom>
          <a:noFill/>
          <a:ln w="22225">
            <a:solidFill>
              <a:schemeClr val="accent4"/>
            </a:solidFill>
            <a:prstDash val="solid"/>
            <a:tailEnd type="triangle"/>
          </a:ln>
        </p:spPr>
      </p:sp>
      <p:sp>
        <p:nvSpPr>
          <p:cNvPr id="10" name="carte-68"/>
          <p:cNvSpPr/>
          <p:nvPr/>
        </p:nvSpPr>
        <p:spPr>
          <a:xfrm>
            <a:off x="3383280" y="1463040"/>
            <a:ext cx="2606040" cy="2377440"/>
          </a:xfrm>
          <a:prstGeom prst="roundRect">
            <a:avLst>
              <a:gd name="adj" fmla="val 4615"/>
            </a:avLst>
          </a:prstGeom>
          <a:solidFill>
            <a:schemeClr val="bg2"/>
          </a:solidFill>
          <a:ln w="12700">
            <a:solidFill>
              <a:schemeClr val="bg2"/>
            </a:solidFill>
            <a:prstDash val="solid"/>
          </a:ln>
        </p:spPr>
      </p:sp>
      <p:sp>
        <p:nvSpPr>
          <p:cNvPr id="11" name="pastille-69"/>
          <p:cNvSpPr/>
          <p:nvPr/>
        </p:nvSpPr>
        <p:spPr>
          <a:xfrm>
            <a:off x="3611880" y="1691640"/>
            <a:ext cx="502920" cy="502920"/>
          </a:xfrm>
          <a:prstGeom prst="ellipse">
            <a:avLst/>
          </a:prstGeom>
          <a:solidFill>
            <a:schemeClr val="accent1"/>
          </a:solidFill>
          <a:ln w="12700">
            <a:solidFill>
              <a:schemeClr val="accent1"/>
            </a:solidFill>
            <a:prstDash val="solid"/>
          </a:ln>
        </p:spPr>
      </p:sp>
      <p:sp>
        <p:nvSpPr>
          <p:cNvPr id="12" name="num-70"/>
          <p:cNvSpPr txBox="1"/>
          <p:nvPr/>
        </p:nvSpPr>
        <p:spPr>
          <a:xfrm>
            <a:off x="3611880" y="169164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e-71"/>
          <p:cNvSpPr txBox="1"/>
          <p:nvPr/>
        </p:nvSpPr>
        <p:spPr>
          <a:xfrm>
            <a:off x="3611880" y="23317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Application</a:t>
            </a:r>
            <a:endParaRPr lang="en-US" sz="1700" dirty="0"/>
          </a:p>
        </p:txBody>
      </p:sp>
      <p:sp>
        <p:nvSpPr>
          <p:cNvPr id="14" name="texte-72"/>
          <p:cNvSpPr txBox="1"/>
          <p:nvPr/>
        </p:nvSpPr>
        <p:spPr>
          <a:xfrm>
            <a:off x="3611880" y="2743200"/>
            <a:ext cx="2194560" cy="1005840"/>
          </a:xfrm>
          <a:prstGeom prst="rect">
            <a:avLst/>
          </a:prstGeom>
          <a:noFill/>
          <a:ln/>
        </p:spPr>
        <p:txBody>
          <a:bodyPr wrap="square" lIns="0" tIns="0" rIns="0" bIns="0" rtlCol="0" anchor="t"/>
          <a:lstStyle/>
          <a:p>
            <a:pPr marL="0" indent="0">
              <a:buNone/>
            </a:pPr>
            <a:r>
              <a:rPr lang="en-US" sz="1400" dirty="0">
                <a:solidFill>
                  <a:schemeClr val="tx1"/>
                </a:solidFill>
              </a:rPr>
              <a:t>Developer Portal : AppPortailSante, clés client_credentials</a:t>
            </a:r>
            <a:endParaRPr lang="en-US" sz="1400" dirty="0"/>
          </a:p>
        </p:txBody>
      </p:sp>
      <p:sp>
        <p:nvSpPr>
          <p:cNvPr id="15" name="fleche-73"/>
          <p:cNvSpPr/>
          <p:nvPr/>
        </p:nvSpPr>
        <p:spPr>
          <a:xfrm>
            <a:off x="5989320" y="2651760"/>
            <a:ext cx="228600" cy="0"/>
          </a:xfrm>
          <a:prstGeom prst="line">
            <a:avLst/>
          </a:prstGeom>
          <a:noFill/>
          <a:ln w="22225">
            <a:solidFill>
              <a:schemeClr val="accent4"/>
            </a:solidFill>
            <a:prstDash val="solid"/>
            <a:tailEnd type="triangle"/>
          </a:ln>
        </p:spPr>
      </p:sp>
      <p:sp>
        <p:nvSpPr>
          <p:cNvPr id="16" name="carte-74"/>
          <p:cNvSpPr/>
          <p:nvPr/>
        </p:nvSpPr>
        <p:spPr>
          <a:xfrm>
            <a:off x="6217920" y="1463040"/>
            <a:ext cx="2606040" cy="2377440"/>
          </a:xfrm>
          <a:prstGeom prst="roundRect">
            <a:avLst>
              <a:gd name="adj" fmla="val 4615"/>
            </a:avLst>
          </a:prstGeom>
          <a:solidFill>
            <a:schemeClr val="bg2"/>
          </a:solidFill>
          <a:ln w="12700">
            <a:solidFill>
              <a:schemeClr val="bg2"/>
            </a:solidFill>
            <a:prstDash val="solid"/>
          </a:ln>
        </p:spPr>
      </p:sp>
      <p:sp>
        <p:nvSpPr>
          <p:cNvPr id="17" name="pastille-75"/>
          <p:cNvSpPr/>
          <p:nvPr/>
        </p:nvSpPr>
        <p:spPr>
          <a:xfrm>
            <a:off x="6446520" y="1691640"/>
            <a:ext cx="502920" cy="502920"/>
          </a:xfrm>
          <a:prstGeom prst="ellipse">
            <a:avLst/>
          </a:prstGeom>
          <a:solidFill>
            <a:schemeClr val="accent1"/>
          </a:solidFill>
          <a:ln w="12700">
            <a:solidFill>
              <a:schemeClr val="accent1"/>
            </a:solidFill>
            <a:prstDash val="solid"/>
          </a:ln>
        </p:spPr>
      </p:sp>
      <p:sp>
        <p:nvSpPr>
          <p:cNvPr id="18" name="num-76"/>
          <p:cNvSpPr txBox="1"/>
          <p:nvPr/>
        </p:nvSpPr>
        <p:spPr>
          <a:xfrm>
            <a:off x="6446520" y="169164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9" name="texte-77"/>
          <p:cNvSpPr txBox="1"/>
          <p:nvPr/>
        </p:nvSpPr>
        <p:spPr>
          <a:xfrm>
            <a:off x="6446520" y="23317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Souscription</a:t>
            </a:r>
            <a:endParaRPr lang="en-US" sz="1700" dirty="0"/>
          </a:p>
        </p:txBody>
      </p:sp>
      <p:sp>
        <p:nvSpPr>
          <p:cNvPr id="20" name="texte-78"/>
          <p:cNvSpPr txBox="1"/>
          <p:nvPr/>
        </p:nvSpPr>
        <p:spPr>
          <a:xfrm>
            <a:off x="6446520" y="2743200"/>
            <a:ext cx="2194560" cy="1005840"/>
          </a:xfrm>
          <a:prstGeom prst="rect">
            <a:avLst/>
          </a:prstGeom>
          <a:noFill/>
          <a:ln/>
        </p:spPr>
        <p:txBody>
          <a:bodyPr wrap="square" lIns="0" tIns="0" rIns="0" bIns="0" rtlCol="0" anchor="t"/>
          <a:lstStyle/>
          <a:p>
            <a:pPr marL="0" indent="0">
              <a:buNone/>
            </a:pPr>
            <a:r>
              <a:rPr lang="en-US" sz="1400" dirty="0">
                <a:solidFill>
                  <a:schemeClr val="tx1"/>
                </a:solidFill>
              </a:rPr>
              <a:t>AppPortailSante → StructuresSanitaires 1.0.0 avec Plan10ParMinute</a:t>
            </a:r>
            <a:endParaRPr lang="en-US" sz="1400" dirty="0"/>
          </a:p>
        </p:txBody>
      </p:sp>
      <p:sp>
        <p:nvSpPr>
          <p:cNvPr id="21" name="fleche-79"/>
          <p:cNvSpPr/>
          <p:nvPr/>
        </p:nvSpPr>
        <p:spPr>
          <a:xfrm>
            <a:off x="8823960" y="2651760"/>
            <a:ext cx="228600" cy="0"/>
          </a:xfrm>
          <a:prstGeom prst="line">
            <a:avLst/>
          </a:prstGeom>
          <a:noFill/>
          <a:ln w="22225">
            <a:solidFill>
              <a:schemeClr val="accent4"/>
            </a:solidFill>
            <a:prstDash val="solid"/>
            <a:tailEnd type="triangle"/>
          </a:ln>
        </p:spPr>
      </p:sp>
      <p:sp>
        <p:nvSpPr>
          <p:cNvPr id="22" name="carte-80"/>
          <p:cNvSpPr/>
          <p:nvPr/>
        </p:nvSpPr>
        <p:spPr>
          <a:xfrm>
            <a:off x="9052560" y="1463040"/>
            <a:ext cx="2606040" cy="2377440"/>
          </a:xfrm>
          <a:prstGeom prst="roundRect">
            <a:avLst>
              <a:gd name="adj" fmla="val 4615"/>
            </a:avLst>
          </a:prstGeom>
          <a:solidFill>
            <a:schemeClr val="bg2"/>
          </a:solidFill>
          <a:ln w="12700">
            <a:solidFill>
              <a:schemeClr val="bg2"/>
            </a:solidFill>
            <a:prstDash val="solid"/>
          </a:ln>
        </p:spPr>
      </p:sp>
      <p:sp>
        <p:nvSpPr>
          <p:cNvPr id="23" name="pastille-81"/>
          <p:cNvSpPr/>
          <p:nvPr/>
        </p:nvSpPr>
        <p:spPr>
          <a:xfrm>
            <a:off x="9281160" y="1691640"/>
            <a:ext cx="502920" cy="502920"/>
          </a:xfrm>
          <a:prstGeom prst="ellipse">
            <a:avLst/>
          </a:prstGeom>
          <a:solidFill>
            <a:schemeClr val="accent1"/>
          </a:solidFill>
          <a:ln w="12700">
            <a:solidFill>
              <a:schemeClr val="accent1"/>
            </a:solidFill>
            <a:prstDash val="solid"/>
          </a:ln>
        </p:spPr>
      </p:sp>
      <p:sp>
        <p:nvSpPr>
          <p:cNvPr id="24" name="num-82"/>
          <p:cNvSpPr txBox="1"/>
          <p:nvPr/>
        </p:nvSpPr>
        <p:spPr>
          <a:xfrm>
            <a:off x="9281160" y="169164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5" name="texte-83"/>
          <p:cNvSpPr txBox="1"/>
          <p:nvPr/>
        </p:nvSpPr>
        <p:spPr>
          <a:xfrm>
            <a:off x="9281160" y="2331720"/>
            <a:ext cx="2194560" cy="365760"/>
          </a:xfrm>
          <a:prstGeom prst="rect">
            <a:avLst/>
          </a:prstGeom>
          <a:noFill/>
          <a:ln/>
        </p:spPr>
        <p:txBody>
          <a:bodyPr wrap="square" lIns="0" tIns="0" rIns="0" bIns="0" rtlCol="0" anchor="t"/>
          <a:lstStyle/>
          <a:p>
            <a:pPr marL="0" indent="0">
              <a:buNone/>
            </a:pPr>
            <a:r>
              <a:rPr lang="en-US" sz="1700" b="1" dirty="0">
                <a:solidFill>
                  <a:schemeClr val="tx2"/>
                </a:solidFill>
              </a:rPr>
              <a:t>Jeton</a:t>
            </a:r>
            <a:endParaRPr lang="en-US" sz="1700" dirty="0"/>
          </a:p>
        </p:txBody>
      </p:sp>
      <p:sp>
        <p:nvSpPr>
          <p:cNvPr id="26" name="texte-84"/>
          <p:cNvSpPr txBox="1"/>
          <p:nvPr/>
        </p:nvSpPr>
        <p:spPr>
          <a:xfrm>
            <a:off x="9281160" y="2743200"/>
            <a:ext cx="2194560" cy="1005840"/>
          </a:xfrm>
          <a:prstGeom prst="rect">
            <a:avLst/>
          </a:prstGeom>
          <a:noFill/>
          <a:ln/>
        </p:spPr>
        <p:txBody>
          <a:bodyPr wrap="square" lIns="0" tIns="0" rIns="0" bIns="0" rtlCol="0" anchor="t"/>
          <a:lstStyle/>
          <a:p>
            <a:pPr marL="0" indent="0">
              <a:buNone/>
            </a:pPr>
            <a:r>
              <a:rPr lang="en-US" sz="1400" dirty="0">
                <a:solidFill>
                  <a:schemeClr val="tx1"/>
                </a:solidFill>
              </a:rPr>
              <a:t>POST :9443/oauth2/token → JWT valable 1 heure</a:t>
            </a:r>
            <a:endParaRPr lang="en-US" sz="1400" dirty="0"/>
          </a:p>
        </p:txBody>
      </p:sp>
      <p:sp>
        <p:nvSpPr>
          <p:cNvPr id="27" name="texte-85"/>
          <p:cNvSpPr txBox="1"/>
          <p:nvPr/>
        </p:nvSpPr>
        <p:spPr>
          <a:xfrm>
            <a:off x="548640" y="4297680"/>
            <a:ext cx="2606040" cy="777240"/>
          </a:xfrm>
          <a:prstGeom prst="rect">
            <a:avLst/>
          </a:prstGeom>
          <a:noFill/>
          <a:ln/>
        </p:spPr>
        <p:txBody>
          <a:bodyPr wrap="square" lIns="0" tIns="0" rIns="0" bIns="0" rtlCol="0" anchor="t"/>
          <a:lstStyle/>
          <a:p>
            <a:pPr marL="0" indent="0">
              <a:buNone/>
            </a:pPr>
            <a:r>
              <a:rPr lang="en-US" sz="4400" b="1" dirty="0">
                <a:solidFill>
                  <a:schemeClr val="accent5"/>
                </a:solidFill>
                <a:latin typeface="Cambria" pitchFamily="34" charset="0"/>
                <a:ea typeface="Cambria" pitchFamily="34" charset="-122"/>
                <a:cs typeface="Cambria" pitchFamily="34" charset="-120"/>
              </a:rPr>
              <a:t>200</a:t>
            </a:r>
            <a:endParaRPr lang="en-US" sz="4400" dirty="0"/>
          </a:p>
        </p:txBody>
      </p:sp>
      <p:sp>
        <p:nvSpPr>
          <p:cNvPr id="28" name="texte-86"/>
          <p:cNvSpPr txBox="1"/>
          <p:nvPr/>
        </p:nvSpPr>
        <p:spPr>
          <a:xfrm>
            <a:off x="548640" y="5120640"/>
            <a:ext cx="2606040" cy="731520"/>
          </a:xfrm>
          <a:prstGeom prst="rect">
            <a:avLst/>
          </a:prstGeom>
          <a:noFill/>
          <a:ln/>
        </p:spPr>
        <p:txBody>
          <a:bodyPr wrap="square" lIns="0" tIns="0" rIns="0" bIns="0" rtlCol="0" anchor="t"/>
          <a:lstStyle/>
          <a:p>
            <a:pPr marL="0" indent="0">
              <a:buNone/>
            </a:pPr>
            <a:r>
              <a:rPr lang="en-US" sz="1400" dirty="0">
                <a:solidFill>
                  <a:schemeClr val="accent4"/>
                </a:solidFill>
              </a:rPr>
              <a:t>Abonnée, quota respecté</a:t>
            </a:r>
            <a:endParaRPr lang="en-US" sz="1400" dirty="0"/>
          </a:p>
        </p:txBody>
      </p:sp>
      <p:sp>
        <p:nvSpPr>
          <p:cNvPr id="29" name="texte-87"/>
          <p:cNvSpPr txBox="1"/>
          <p:nvPr/>
        </p:nvSpPr>
        <p:spPr>
          <a:xfrm>
            <a:off x="3383280" y="4297680"/>
            <a:ext cx="2606040" cy="77724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401</a:t>
            </a:r>
            <a:endParaRPr lang="en-US" sz="4400" dirty="0"/>
          </a:p>
        </p:txBody>
      </p:sp>
      <p:sp>
        <p:nvSpPr>
          <p:cNvPr id="30" name="texte-88"/>
          <p:cNvSpPr txBox="1"/>
          <p:nvPr/>
        </p:nvSpPr>
        <p:spPr>
          <a:xfrm>
            <a:off x="3383280" y="5120640"/>
            <a:ext cx="2606040" cy="731520"/>
          </a:xfrm>
          <a:prstGeom prst="rect">
            <a:avLst/>
          </a:prstGeom>
          <a:noFill/>
          <a:ln/>
        </p:spPr>
        <p:txBody>
          <a:bodyPr wrap="square" lIns="0" tIns="0" rIns="0" bIns="0" rtlCol="0" anchor="t"/>
          <a:lstStyle/>
          <a:p>
            <a:pPr marL="0" indent="0">
              <a:buNone/>
            </a:pPr>
            <a:r>
              <a:rPr lang="en-US" sz="1400" dirty="0">
                <a:solidFill>
                  <a:schemeClr val="accent4"/>
                </a:solidFill>
              </a:rPr>
              <a:t>Jeton absent, invalide ou souscription bloquée</a:t>
            </a:r>
            <a:endParaRPr lang="en-US" sz="1400" dirty="0"/>
          </a:p>
        </p:txBody>
      </p:sp>
      <p:sp>
        <p:nvSpPr>
          <p:cNvPr id="31" name="texte-89"/>
          <p:cNvSpPr txBox="1"/>
          <p:nvPr/>
        </p:nvSpPr>
        <p:spPr>
          <a:xfrm>
            <a:off x="6217920" y="4297680"/>
            <a:ext cx="2606040" cy="777240"/>
          </a:xfrm>
          <a:prstGeom prst="rect">
            <a:avLst/>
          </a:prstGeom>
          <a:noFill/>
          <a:ln/>
        </p:spPr>
        <p:txBody>
          <a:bodyPr wrap="square" lIns="0" tIns="0" rIns="0" bIns="0" rtlCol="0" anchor="t"/>
          <a:lstStyle/>
          <a:p>
            <a:pPr marL="0" indent="0">
              <a:buNone/>
            </a:pPr>
            <a:r>
              <a:rPr lang="en-US" sz="4400" b="1" dirty="0">
                <a:solidFill>
                  <a:schemeClr val="accent3"/>
                </a:solidFill>
                <a:latin typeface="Cambria" pitchFamily="34" charset="0"/>
                <a:ea typeface="Cambria" pitchFamily="34" charset="-122"/>
                <a:cs typeface="Cambria" pitchFamily="34" charset="-120"/>
              </a:rPr>
              <a:t>403</a:t>
            </a:r>
            <a:endParaRPr lang="en-US" sz="4400" dirty="0"/>
          </a:p>
        </p:txBody>
      </p:sp>
      <p:sp>
        <p:nvSpPr>
          <p:cNvPr id="32" name="texte-90"/>
          <p:cNvSpPr txBox="1"/>
          <p:nvPr/>
        </p:nvSpPr>
        <p:spPr>
          <a:xfrm>
            <a:off x="6217920" y="5120640"/>
            <a:ext cx="2606040" cy="731520"/>
          </a:xfrm>
          <a:prstGeom prst="rect">
            <a:avLst/>
          </a:prstGeom>
          <a:noFill/>
          <a:ln/>
        </p:spPr>
        <p:txBody>
          <a:bodyPr wrap="square" lIns="0" tIns="0" rIns="0" bIns="0" rtlCol="0" anchor="t"/>
          <a:lstStyle/>
          <a:p>
            <a:pPr marL="0" indent="0">
              <a:buNone/>
            </a:pPr>
            <a:r>
              <a:rPr lang="en-US" sz="1400" dirty="0">
                <a:solidFill>
                  <a:schemeClr val="accent4"/>
                </a:solidFill>
              </a:rPr>
              <a:t>Application non abonnée</a:t>
            </a:r>
            <a:endParaRPr lang="en-US" sz="1400" dirty="0"/>
          </a:p>
        </p:txBody>
      </p:sp>
      <p:sp>
        <p:nvSpPr>
          <p:cNvPr id="33" name="texte-91"/>
          <p:cNvSpPr txBox="1"/>
          <p:nvPr/>
        </p:nvSpPr>
        <p:spPr>
          <a:xfrm>
            <a:off x="9052560" y="4297680"/>
            <a:ext cx="2606040" cy="777240"/>
          </a:xfrm>
          <a:prstGeom prst="rect">
            <a:avLst/>
          </a:prstGeom>
          <a:noFill/>
          <a:ln/>
        </p:spPr>
        <p:txBody>
          <a:bodyPr wrap="square" lIns="0" tIns="0" rIns="0" bIns="0" rtlCol="0" anchor="t"/>
          <a:lstStyle/>
          <a:p>
            <a:pPr marL="0" indent="0">
              <a:buNone/>
            </a:pPr>
            <a:r>
              <a:rPr lang="en-US" sz="4400" b="1" dirty="0">
                <a:solidFill>
                  <a:schemeClr val="accent3"/>
                </a:solidFill>
                <a:latin typeface="Cambria" pitchFamily="34" charset="0"/>
                <a:ea typeface="Cambria" pitchFamily="34" charset="-122"/>
                <a:cs typeface="Cambria" pitchFamily="34" charset="-120"/>
              </a:rPr>
              <a:t>429</a:t>
            </a:r>
            <a:endParaRPr lang="en-US" sz="4400" dirty="0"/>
          </a:p>
        </p:txBody>
      </p:sp>
      <p:sp>
        <p:nvSpPr>
          <p:cNvPr id="34" name="texte-92"/>
          <p:cNvSpPr txBox="1"/>
          <p:nvPr/>
        </p:nvSpPr>
        <p:spPr>
          <a:xfrm>
            <a:off x="9052560" y="5120640"/>
            <a:ext cx="2606040" cy="731520"/>
          </a:xfrm>
          <a:prstGeom prst="rect">
            <a:avLst/>
          </a:prstGeom>
          <a:noFill/>
          <a:ln/>
        </p:spPr>
        <p:txBody>
          <a:bodyPr wrap="square" lIns="0" tIns="0" rIns="0" bIns="0" rtlCol="0" anchor="t"/>
          <a:lstStyle/>
          <a:p>
            <a:pPr marL="0" indent="0">
              <a:buNone/>
            </a:pPr>
            <a:r>
              <a:rPr lang="en-US" sz="1400" dirty="0">
                <a:solidFill>
                  <a:schemeClr val="accent4"/>
                </a:solidFill>
              </a:rPr>
              <a:t>Plus de 10 appels en une minute</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Le cycle de vie suivi de bout en bout</a:t>
            </a:r>
            <a:endParaRPr lang="en-US" sz="3200" dirty="0"/>
          </a:p>
        </p:txBody>
      </p:sp>
      <p:sp>
        <p:nvSpPr>
          <p:cNvPr id="4" name="boite-93"/>
          <p:cNvSpPr/>
          <p:nvPr/>
        </p:nvSpPr>
        <p:spPr>
          <a:xfrm>
            <a:off x="548640" y="1828800"/>
            <a:ext cx="2194560" cy="914400"/>
          </a:xfrm>
          <a:prstGeom prst="roundRect">
            <a:avLst>
              <a:gd name="adj" fmla="val 12000"/>
            </a:avLst>
          </a:prstGeom>
          <a:solidFill>
            <a:schemeClr val="bg1"/>
          </a:solidFill>
          <a:ln w="19050">
            <a:solidFill>
              <a:schemeClr val="accent1"/>
            </a:solidFill>
            <a:prstDash val="solid"/>
          </a:ln>
        </p:spPr>
      </p:sp>
      <p:sp>
        <p:nvSpPr>
          <p:cNvPr id="5" name="libelle-94"/>
          <p:cNvSpPr txBox="1"/>
          <p:nvPr/>
        </p:nvSpPr>
        <p:spPr>
          <a:xfrm>
            <a:off x="548640" y="1828800"/>
            <a:ext cx="2194560" cy="914400"/>
          </a:xfrm>
          <a:prstGeom prst="rect">
            <a:avLst/>
          </a:prstGeom>
          <a:noFill/>
          <a:ln/>
        </p:spPr>
        <p:txBody>
          <a:bodyPr wrap="square" lIns="1016" tIns="1016" rIns="1016" bIns="1016" rtlCol="0" anchor="ctr"/>
          <a:lstStyle/>
          <a:p>
            <a:pPr marL="0" indent="0" algn="ctr">
              <a:buNone/>
            </a:pPr>
            <a:r>
              <a:rPr lang="en-US" sz="1600" b="1" dirty="0">
                <a:solidFill>
                  <a:schemeClr val="tx2"/>
                </a:solidFill>
              </a:rPr>
              <a:t>CREATED</a:t>
            </a:r>
            <a:endParaRPr lang="en-US" sz="1600" dirty="0"/>
          </a:p>
          <a:p>
            <a:pPr marL="0" indent="0" algn="ctr">
              <a:buNone/>
            </a:pPr>
            <a:r>
              <a:rPr lang="en-US" sz="1200" dirty="0">
                <a:solidFill>
                  <a:schemeClr val="accent4"/>
                </a:solidFill>
              </a:rPr>
              <a:t>import OpenAPI</a:t>
            </a:r>
            <a:endParaRPr lang="en-US" sz="1600" dirty="0"/>
          </a:p>
        </p:txBody>
      </p:sp>
      <p:sp>
        <p:nvSpPr>
          <p:cNvPr id="6" name="boite-95"/>
          <p:cNvSpPr/>
          <p:nvPr/>
        </p:nvSpPr>
        <p:spPr>
          <a:xfrm>
            <a:off x="3520440" y="1828800"/>
            <a:ext cx="2194560" cy="914400"/>
          </a:xfrm>
          <a:prstGeom prst="roundRect">
            <a:avLst>
              <a:gd name="adj" fmla="val 12000"/>
            </a:avLst>
          </a:prstGeom>
          <a:solidFill>
            <a:schemeClr val="accent1"/>
          </a:solidFill>
          <a:ln w="19050">
            <a:solidFill>
              <a:schemeClr val="accent1"/>
            </a:solidFill>
            <a:prstDash val="solid"/>
          </a:ln>
        </p:spPr>
      </p:sp>
      <p:sp>
        <p:nvSpPr>
          <p:cNvPr id="7" name="libelle-96"/>
          <p:cNvSpPr txBox="1"/>
          <p:nvPr/>
        </p:nvSpPr>
        <p:spPr>
          <a:xfrm>
            <a:off x="3520440" y="1828800"/>
            <a:ext cx="2194560" cy="914400"/>
          </a:xfrm>
          <a:prstGeom prst="rect">
            <a:avLst/>
          </a:prstGeom>
          <a:noFill/>
          <a:ln/>
        </p:spPr>
        <p:txBody>
          <a:bodyPr wrap="square" lIns="1016" tIns="1016" rIns="1016" bIns="1016" rtlCol="0" anchor="ctr"/>
          <a:lstStyle/>
          <a:p>
            <a:pPr marL="0" indent="0" algn="ctr">
              <a:buNone/>
            </a:pPr>
            <a:r>
              <a:rPr lang="en-US" sz="1600" b="1" dirty="0">
                <a:solidFill>
                  <a:schemeClr val="bg1"/>
                </a:solidFill>
              </a:rPr>
              <a:t>PUBLISHED</a:t>
            </a:r>
            <a:endParaRPr lang="en-US" sz="1600" dirty="0"/>
          </a:p>
          <a:p>
            <a:pPr marL="0" indent="0" algn="ctr">
              <a:buNone/>
            </a:pPr>
            <a:r>
              <a:rPr lang="en-US" sz="1200" dirty="0">
                <a:solidFill>
                  <a:schemeClr val="bg2"/>
                </a:solidFill>
              </a:rPr>
              <a:t>v1 en service</a:t>
            </a:r>
            <a:endParaRPr lang="en-US" sz="1600" dirty="0"/>
          </a:p>
        </p:txBody>
      </p:sp>
      <p:sp>
        <p:nvSpPr>
          <p:cNvPr id="8" name="boite-97"/>
          <p:cNvSpPr/>
          <p:nvPr/>
        </p:nvSpPr>
        <p:spPr>
          <a:xfrm>
            <a:off x="6492240" y="1828800"/>
            <a:ext cx="2194560" cy="914400"/>
          </a:xfrm>
          <a:prstGeom prst="roundRect">
            <a:avLst>
              <a:gd name="adj" fmla="val 12000"/>
            </a:avLst>
          </a:prstGeom>
          <a:solidFill>
            <a:schemeClr val="bg1"/>
          </a:solidFill>
          <a:ln w="19050">
            <a:solidFill>
              <a:schemeClr val="accent1"/>
            </a:solidFill>
            <a:prstDash val="solid"/>
          </a:ln>
        </p:spPr>
      </p:sp>
      <p:sp>
        <p:nvSpPr>
          <p:cNvPr id="9" name="libelle-98"/>
          <p:cNvSpPr txBox="1"/>
          <p:nvPr/>
        </p:nvSpPr>
        <p:spPr>
          <a:xfrm>
            <a:off x="6492240" y="1828800"/>
            <a:ext cx="2194560" cy="914400"/>
          </a:xfrm>
          <a:prstGeom prst="rect">
            <a:avLst/>
          </a:prstGeom>
          <a:noFill/>
          <a:ln/>
        </p:spPr>
        <p:txBody>
          <a:bodyPr wrap="square" lIns="1016" tIns="1016" rIns="1016" bIns="1016" rtlCol="0" anchor="ctr"/>
          <a:lstStyle/>
          <a:p>
            <a:pPr marL="0" indent="0" algn="ctr">
              <a:buNone/>
            </a:pPr>
            <a:r>
              <a:rPr lang="en-US" sz="1600" b="1" dirty="0">
                <a:solidFill>
                  <a:schemeClr val="tx2"/>
                </a:solidFill>
              </a:rPr>
              <a:t>DEPRECATED</a:t>
            </a:r>
            <a:endParaRPr lang="en-US" sz="1600" dirty="0"/>
          </a:p>
          <a:p>
            <a:pPr marL="0" indent="0" algn="ctr">
              <a:buNone/>
            </a:pPr>
            <a:r>
              <a:rPr lang="en-US" sz="1200" dirty="0">
                <a:solidFill>
                  <a:schemeClr val="accent4"/>
                </a:solidFill>
              </a:rPr>
              <a:t>v1 encore servie</a:t>
            </a:r>
            <a:endParaRPr lang="en-US" sz="1600" dirty="0"/>
          </a:p>
        </p:txBody>
      </p:sp>
      <p:sp>
        <p:nvSpPr>
          <p:cNvPr id="10" name="boite-99"/>
          <p:cNvSpPr/>
          <p:nvPr/>
        </p:nvSpPr>
        <p:spPr>
          <a:xfrm>
            <a:off x="9464040" y="1828800"/>
            <a:ext cx="2194560" cy="914400"/>
          </a:xfrm>
          <a:prstGeom prst="roundRect">
            <a:avLst>
              <a:gd name="adj" fmla="val 12000"/>
            </a:avLst>
          </a:prstGeom>
          <a:solidFill>
            <a:schemeClr val="bg1"/>
          </a:solidFill>
          <a:ln w="19050">
            <a:solidFill>
              <a:schemeClr val="accent1"/>
            </a:solidFill>
            <a:prstDash val="solid"/>
          </a:ln>
        </p:spPr>
      </p:sp>
      <p:sp>
        <p:nvSpPr>
          <p:cNvPr id="11" name="libelle-100"/>
          <p:cNvSpPr txBox="1"/>
          <p:nvPr/>
        </p:nvSpPr>
        <p:spPr>
          <a:xfrm>
            <a:off x="9464040" y="1828800"/>
            <a:ext cx="2194560" cy="914400"/>
          </a:xfrm>
          <a:prstGeom prst="rect">
            <a:avLst/>
          </a:prstGeom>
          <a:noFill/>
          <a:ln/>
        </p:spPr>
        <p:txBody>
          <a:bodyPr wrap="square" lIns="1016" tIns="1016" rIns="1016" bIns="1016" rtlCol="0" anchor="ctr"/>
          <a:lstStyle/>
          <a:p>
            <a:pPr marL="0" indent="0" algn="ctr">
              <a:buNone/>
            </a:pPr>
            <a:r>
              <a:rPr lang="en-US" sz="1600" b="1" dirty="0">
                <a:solidFill>
                  <a:schemeClr val="tx2"/>
                </a:solidFill>
              </a:rPr>
              <a:t>RETIRED</a:t>
            </a:r>
            <a:endParaRPr lang="en-US" sz="1600" dirty="0"/>
          </a:p>
          <a:p>
            <a:pPr marL="0" indent="0" algn="ctr">
              <a:buNone/>
            </a:pPr>
            <a:r>
              <a:rPr lang="en-US" sz="1200" dirty="0">
                <a:solidFill>
                  <a:schemeClr val="accent4"/>
                </a:solidFill>
              </a:rPr>
              <a:t>v1 supprimée</a:t>
            </a:r>
            <a:endParaRPr lang="en-US" sz="1600" dirty="0"/>
          </a:p>
        </p:txBody>
      </p:sp>
      <p:sp>
        <p:nvSpPr>
          <p:cNvPr id="12" name="boite-101"/>
          <p:cNvSpPr/>
          <p:nvPr/>
        </p:nvSpPr>
        <p:spPr>
          <a:xfrm>
            <a:off x="3520440" y="3931920"/>
            <a:ext cx="2194560" cy="914400"/>
          </a:xfrm>
          <a:prstGeom prst="roundRect">
            <a:avLst>
              <a:gd name="adj" fmla="val 12000"/>
            </a:avLst>
          </a:prstGeom>
          <a:solidFill>
            <a:schemeClr val="bg1"/>
          </a:solidFill>
          <a:ln w="19050">
            <a:solidFill>
              <a:schemeClr val="accent1"/>
            </a:solidFill>
            <a:prstDash val="solid"/>
          </a:ln>
        </p:spPr>
      </p:sp>
      <p:sp>
        <p:nvSpPr>
          <p:cNvPr id="13" name="libelle-102"/>
          <p:cNvSpPr txBox="1"/>
          <p:nvPr/>
        </p:nvSpPr>
        <p:spPr>
          <a:xfrm>
            <a:off x="3520440" y="3931920"/>
            <a:ext cx="2194560" cy="914400"/>
          </a:xfrm>
          <a:prstGeom prst="rect">
            <a:avLst/>
          </a:prstGeom>
          <a:noFill/>
          <a:ln/>
        </p:spPr>
        <p:txBody>
          <a:bodyPr wrap="square" lIns="1016" tIns="1016" rIns="1016" bIns="1016" rtlCol="0" anchor="ctr"/>
          <a:lstStyle/>
          <a:p>
            <a:pPr marL="0" indent="0" algn="ctr">
              <a:buNone/>
            </a:pPr>
            <a:r>
              <a:rPr lang="en-US" sz="1600" b="1" dirty="0">
                <a:solidFill>
                  <a:schemeClr val="tx2"/>
                </a:solidFill>
              </a:rPr>
              <a:t>BLOCKED</a:t>
            </a:r>
            <a:endParaRPr lang="en-US" sz="1600" dirty="0"/>
          </a:p>
          <a:p>
            <a:pPr marL="0" indent="0" algn="ctr">
              <a:buNone/>
            </a:pPr>
            <a:r>
              <a:rPr lang="en-US" sz="1200" dirty="0">
                <a:solidFill>
                  <a:schemeClr val="accent4"/>
                </a:solidFill>
              </a:rPr>
              <a:t>retrait temporaire</a:t>
            </a:r>
            <a:endParaRPr lang="en-US" sz="1600" dirty="0"/>
          </a:p>
        </p:txBody>
      </p:sp>
      <p:sp>
        <p:nvSpPr>
          <p:cNvPr id="14" name="fleche-103"/>
          <p:cNvSpPr/>
          <p:nvPr/>
        </p:nvSpPr>
        <p:spPr>
          <a:xfrm>
            <a:off x="2743200" y="2286000"/>
            <a:ext cx="777240" cy="0"/>
          </a:xfrm>
          <a:prstGeom prst="line">
            <a:avLst/>
          </a:prstGeom>
          <a:noFill/>
          <a:ln w="22225">
            <a:solidFill>
              <a:schemeClr val="accent4"/>
            </a:solidFill>
            <a:prstDash val="solid"/>
            <a:tailEnd type="triangle"/>
          </a:ln>
        </p:spPr>
      </p:sp>
      <p:sp>
        <p:nvSpPr>
          <p:cNvPr id="15" name="fleche-104"/>
          <p:cNvSpPr/>
          <p:nvPr/>
        </p:nvSpPr>
        <p:spPr>
          <a:xfrm>
            <a:off x="5715000" y="2286000"/>
            <a:ext cx="777240" cy="0"/>
          </a:xfrm>
          <a:prstGeom prst="line">
            <a:avLst/>
          </a:prstGeom>
          <a:noFill/>
          <a:ln w="22225">
            <a:solidFill>
              <a:schemeClr val="accent4"/>
            </a:solidFill>
            <a:prstDash val="solid"/>
            <a:tailEnd type="triangle"/>
          </a:ln>
        </p:spPr>
      </p:sp>
      <p:sp>
        <p:nvSpPr>
          <p:cNvPr id="16" name="fleche-105"/>
          <p:cNvSpPr/>
          <p:nvPr/>
        </p:nvSpPr>
        <p:spPr>
          <a:xfrm>
            <a:off x="8686800" y="2286000"/>
            <a:ext cx="777240" cy="0"/>
          </a:xfrm>
          <a:prstGeom prst="line">
            <a:avLst/>
          </a:prstGeom>
          <a:noFill/>
          <a:ln w="22225">
            <a:solidFill>
              <a:schemeClr val="accent4"/>
            </a:solidFill>
            <a:prstDash val="solid"/>
            <a:tailEnd type="triangle"/>
          </a:ln>
        </p:spPr>
      </p:sp>
      <p:sp>
        <p:nvSpPr>
          <p:cNvPr id="17" name="texte-106"/>
          <p:cNvSpPr txBox="1"/>
          <p:nvPr/>
        </p:nvSpPr>
        <p:spPr>
          <a:xfrm>
            <a:off x="2743200" y="1920240"/>
            <a:ext cx="777240" cy="274320"/>
          </a:xfrm>
          <a:prstGeom prst="rect">
            <a:avLst/>
          </a:prstGeom>
          <a:noFill/>
          <a:ln/>
        </p:spPr>
        <p:txBody>
          <a:bodyPr wrap="square" lIns="0" tIns="0" rIns="0" bIns="0" rtlCol="0" anchor="t"/>
          <a:lstStyle/>
          <a:p>
            <a:pPr marL="0" indent="0" algn="ctr">
              <a:buNone/>
            </a:pPr>
            <a:r>
              <a:rPr lang="en-US" sz="1100" dirty="0">
                <a:solidFill>
                  <a:schemeClr val="accent4"/>
                </a:solidFill>
              </a:rPr>
              <a:t>Publish</a:t>
            </a:r>
            <a:endParaRPr lang="en-US" sz="1100" dirty="0"/>
          </a:p>
        </p:txBody>
      </p:sp>
      <p:sp>
        <p:nvSpPr>
          <p:cNvPr id="18" name="texte-107"/>
          <p:cNvSpPr txBox="1"/>
          <p:nvPr/>
        </p:nvSpPr>
        <p:spPr>
          <a:xfrm>
            <a:off x="5623560" y="1920240"/>
            <a:ext cx="960120" cy="274320"/>
          </a:xfrm>
          <a:prstGeom prst="rect">
            <a:avLst/>
          </a:prstGeom>
          <a:noFill/>
          <a:ln/>
        </p:spPr>
        <p:txBody>
          <a:bodyPr wrap="square" lIns="0" tIns="0" rIns="0" bIns="0" rtlCol="0" anchor="t"/>
          <a:lstStyle/>
          <a:p>
            <a:pPr marL="0" indent="0" algn="ctr">
              <a:buNone/>
            </a:pPr>
            <a:r>
              <a:rPr lang="en-US" sz="1100" dirty="0">
                <a:solidFill>
                  <a:schemeClr val="accent4"/>
                </a:solidFill>
              </a:rPr>
              <a:t>v2 publiée</a:t>
            </a:r>
            <a:endParaRPr lang="en-US" sz="1100" dirty="0"/>
          </a:p>
        </p:txBody>
      </p:sp>
      <p:sp>
        <p:nvSpPr>
          <p:cNvPr id="19" name="texte-108"/>
          <p:cNvSpPr txBox="1"/>
          <p:nvPr/>
        </p:nvSpPr>
        <p:spPr>
          <a:xfrm>
            <a:off x="8686800" y="1920240"/>
            <a:ext cx="777240" cy="274320"/>
          </a:xfrm>
          <a:prstGeom prst="rect">
            <a:avLst/>
          </a:prstGeom>
          <a:noFill/>
          <a:ln/>
        </p:spPr>
        <p:txBody>
          <a:bodyPr wrap="square" lIns="0" tIns="0" rIns="0" bIns="0" rtlCol="0" anchor="t"/>
          <a:lstStyle/>
          <a:p>
            <a:pPr marL="0" indent="0" algn="ctr">
              <a:buNone/>
            </a:pPr>
            <a:r>
              <a:rPr lang="en-US" sz="1100" dirty="0">
                <a:solidFill>
                  <a:schemeClr val="accent4"/>
                </a:solidFill>
              </a:rPr>
              <a:t>Retire</a:t>
            </a:r>
            <a:endParaRPr lang="en-US" sz="1100" dirty="0"/>
          </a:p>
        </p:txBody>
      </p:sp>
      <p:sp>
        <p:nvSpPr>
          <p:cNvPr id="20" name="fleche-109"/>
          <p:cNvSpPr/>
          <p:nvPr/>
        </p:nvSpPr>
        <p:spPr>
          <a:xfrm>
            <a:off x="4251960" y="2743200"/>
            <a:ext cx="0" cy="1188720"/>
          </a:xfrm>
          <a:prstGeom prst="line">
            <a:avLst/>
          </a:prstGeom>
          <a:noFill/>
          <a:ln w="22225">
            <a:solidFill>
              <a:schemeClr val="accent4"/>
            </a:solidFill>
            <a:prstDash val="solid"/>
            <a:tailEnd type="triangle"/>
          </a:ln>
        </p:spPr>
      </p:sp>
      <p:sp>
        <p:nvSpPr>
          <p:cNvPr id="21" name="fleche-110"/>
          <p:cNvSpPr/>
          <p:nvPr/>
        </p:nvSpPr>
        <p:spPr>
          <a:xfrm>
            <a:off x="4983480" y="2743200"/>
            <a:ext cx="0" cy="1188720"/>
          </a:xfrm>
          <a:prstGeom prst="line">
            <a:avLst/>
          </a:prstGeom>
          <a:noFill/>
          <a:ln w="22225">
            <a:solidFill>
              <a:schemeClr val="accent4"/>
            </a:solidFill>
            <a:prstDash val="solid"/>
            <a:headEnd type="triangle"/>
          </a:ln>
        </p:spPr>
      </p:sp>
      <p:sp>
        <p:nvSpPr>
          <p:cNvPr id="22" name="texte-111"/>
          <p:cNvSpPr txBox="1"/>
          <p:nvPr/>
        </p:nvSpPr>
        <p:spPr>
          <a:xfrm>
            <a:off x="3337560" y="3154680"/>
            <a:ext cx="822960" cy="274320"/>
          </a:xfrm>
          <a:prstGeom prst="rect">
            <a:avLst/>
          </a:prstGeom>
          <a:noFill/>
          <a:ln/>
        </p:spPr>
        <p:txBody>
          <a:bodyPr wrap="square" lIns="0" tIns="0" rIns="0" bIns="0" rtlCol="0" anchor="t"/>
          <a:lstStyle/>
          <a:p>
            <a:pPr marL="0" indent="0" algn="r">
              <a:buNone/>
            </a:pPr>
            <a:r>
              <a:rPr lang="en-US" sz="1100" dirty="0">
                <a:solidFill>
                  <a:schemeClr val="accent4"/>
                </a:solidFill>
              </a:rPr>
              <a:t>Block</a:t>
            </a:r>
            <a:endParaRPr lang="en-US" sz="1100" dirty="0"/>
          </a:p>
        </p:txBody>
      </p:sp>
      <p:sp>
        <p:nvSpPr>
          <p:cNvPr id="23" name="texte-112"/>
          <p:cNvSpPr txBox="1"/>
          <p:nvPr/>
        </p:nvSpPr>
        <p:spPr>
          <a:xfrm>
            <a:off x="5074920" y="3154680"/>
            <a:ext cx="1097280" cy="274320"/>
          </a:xfrm>
          <a:prstGeom prst="rect">
            <a:avLst/>
          </a:prstGeom>
          <a:noFill/>
          <a:ln/>
        </p:spPr>
        <p:txBody>
          <a:bodyPr wrap="square" lIns="0" tIns="0" rIns="0" bIns="0" rtlCol="0" anchor="t"/>
          <a:lstStyle/>
          <a:p>
            <a:pPr marL="0" indent="0">
              <a:buNone/>
            </a:pPr>
            <a:r>
              <a:rPr lang="en-US" sz="1100" dirty="0">
                <a:solidFill>
                  <a:schemeClr val="accent4"/>
                </a:solidFill>
              </a:rPr>
              <a:t>Re-Publish</a:t>
            </a:r>
            <a:endParaRPr lang="en-US" sz="1100" dirty="0"/>
          </a:p>
        </p:txBody>
      </p:sp>
      <p:sp>
        <p:nvSpPr>
          <p:cNvPr id="24" name="carte-113"/>
          <p:cNvSpPr/>
          <p:nvPr/>
        </p:nvSpPr>
        <p:spPr>
          <a:xfrm>
            <a:off x="6492240" y="3566160"/>
            <a:ext cx="5166360" cy="2377440"/>
          </a:xfrm>
          <a:prstGeom prst="roundRect">
            <a:avLst>
              <a:gd name="adj" fmla="val 4615"/>
            </a:avLst>
          </a:prstGeom>
          <a:solidFill>
            <a:schemeClr val="bg2"/>
          </a:solidFill>
          <a:ln w="12700">
            <a:solidFill>
              <a:schemeClr val="bg2"/>
            </a:solidFill>
            <a:prstDash val="solid"/>
          </a:ln>
        </p:spPr>
      </p:sp>
      <p:sp>
        <p:nvSpPr>
          <p:cNvPr id="25" name="texte-114"/>
          <p:cNvSpPr txBox="1"/>
          <p:nvPr/>
        </p:nvSpPr>
        <p:spPr>
          <a:xfrm>
            <a:off x="6766560" y="3794760"/>
            <a:ext cx="4663440" cy="2011680"/>
          </a:xfrm>
          <a:prstGeom prst="rect">
            <a:avLst/>
          </a:prstGeom>
          <a:noFill/>
          <a:ln/>
        </p:spPr>
        <p:txBody>
          <a:bodyPr wrap="square" lIns="0" tIns="0" rIns="0" bIns="0" rtlCol="0" anchor="t"/>
          <a:lstStyle/>
          <a:p>
            <a:pPr marL="0" indent="0">
              <a:spcAft>
                <a:spcPts val="800"/>
              </a:spcAft>
              <a:buNone/>
            </a:pPr>
            <a:r>
              <a:rPr lang="en-US" sz="1700" b="1" dirty="0">
                <a:solidFill>
                  <a:schemeClr val="tx2"/>
                </a:solidFill>
              </a:rPr>
              <a:t>Une commande par transition</a:t>
            </a:r>
            <a:endParaRPr lang="en-US" sz="1400" dirty="0"/>
          </a:p>
          <a:p>
            <a:pPr marL="0" indent="0">
              <a:spcAft>
                <a:spcPts val="800"/>
              </a:spcAft>
              <a:buNone/>
            </a:pPr>
            <a:r>
              <a:rPr lang="en-US" sz="1400" dirty="0">
                <a:solidFill>
                  <a:schemeClr val="tx1"/>
                </a:solidFill>
                <a:latin typeface="Courier New" pitchFamily="34" charset="0"/>
                <a:ea typeface="Courier New" pitchFamily="34" charset="-122"/>
                <a:cs typeface="Courier New" pitchFamily="34" charset="-120"/>
              </a:rPr>
              <a:t>wso2ctl.py setup · block · republish</a:t>
            </a:r>
            <a:endParaRPr lang="en-US" sz="1400" dirty="0"/>
          </a:p>
          <a:p>
            <a:pPr marL="0" indent="0">
              <a:spcAft>
                <a:spcPts val="800"/>
              </a:spcAft>
              <a:buNone/>
            </a:pPr>
            <a:r>
              <a:rPr lang="en-US" sz="1400" dirty="0">
                <a:solidFill>
                  <a:schemeClr val="tx1"/>
                </a:solidFill>
                <a:latin typeface="Courier New" pitchFamily="34" charset="0"/>
                <a:ea typeface="Courier New" pitchFamily="34" charset="-122"/>
                <a:cs typeface="Courier New" pitchFamily="34" charset="-120"/>
              </a:rPr>
              <a:t>wso2ctl.py new-version · retire-v1</a:t>
            </a:r>
            <a:endParaRPr lang="en-US" sz="1400" dirty="0"/>
          </a:p>
          <a:p>
            <a:pPr marL="0" indent="0">
              <a:spcAft>
                <a:spcPts val="800"/>
              </a:spcAft>
              <a:buNone/>
            </a:pPr>
            <a:r>
              <a:rPr lang="en-US" sz="1400" dirty="0">
                <a:solidFill>
                  <a:schemeClr val="tx1"/>
                </a:solidFill>
                <a:latin typeface="Courier New" pitchFamily="34" charset="0"/>
                <a:ea typeface="Courier New" pitchFamily="34" charset="-122"/>
                <a:cs typeface="Courier New" pitchFamily="34" charset="-120"/>
              </a:rPr>
              <a:t>wso2ctl.py block-sub · unblock-sub · status</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Retrait de publication ≠ arrêt technique</a:t>
            </a:r>
            <a:endParaRPr lang="en-US" sz="3200" dirty="0"/>
          </a:p>
        </p:txBody>
      </p:sp>
      <p:sp>
        <p:nvSpPr>
          <p:cNvPr id="4" name="entete-115"/>
          <p:cNvSpPr/>
          <p:nvPr/>
        </p:nvSpPr>
        <p:spPr>
          <a:xfrm>
            <a:off x="548640" y="1417320"/>
            <a:ext cx="5440680" cy="685800"/>
          </a:xfrm>
          <a:prstGeom prst="roundRect">
            <a:avLst>
              <a:gd name="adj" fmla="val 16000"/>
            </a:avLst>
          </a:prstGeom>
          <a:solidFill>
            <a:schemeClr val="accent1"/>
          </a:solidFill>
          <a:ln w="12700">
            <a:solidFill>
              <a:schemeClr val="accent1"/>
            </a:solidFill>
            <a:prstDash val="solid"/>
          </a:ln>
        </p:spPr>
        <p:txBody>
          <a:bodyPr/>
          <a:lstStyle/>
          <a:p>
            <a:endParaRPr/>
          </a:p>
        </p:txBody>
      </p:sp>
      <p:sp>
        <p:nvSpPr>
          <p:cNvPr id="5" name="texte-116"/>
          <p:cNvSpPr txBox="1"/>
          <p:nvPr/>
        </p:nvSpPr>
        <p:spPr>
          <a:xfrm>
            <a:off x="822960" y="1417320"/>
            <a:ext cx="4937760" cy="685800"/>
          </a:xfrm>
          <a:prstGeom prst="rect">
            <a:avLst/>
          </a:prstGeom>
          <a:noFill/>
          <a:ln/>
        </p:spPr>
        <p:txBody>
          <a:bodyPr wrap="square" lIns="0" tIns="0" rIns="0" bIns="0" rtlCol="0" anchor="ctr"/>
          <a:lstStyle/>
          <a:p>
            <a:pPr marL="0" indent="0">
              <a:buNone/>
            </a:pPr>
            <a:r>
              <a:rPr lang="en-US" sz="2000" b="1" dirty="0">
                <a:solidFill>
                  <a:schemeClr val="bg1"/>
                </a:solidFill>
              </a:rPr>
              <a:t>Retrait de publication</a:t>
            </a:r>
            <a:endParaRPr lang="en-US" sz="2000" dirty="0"/>
          </a:p>
        </p:txBody>
      </p:sp>
      <p:sp>
        <p:nvSpPr>
          <p:cNvPr id="6" name="carte-117"/>
          <p:cNvSpPr/>
          <p:nvPr/>
        </p:nvSpPr>
        <p:spPr>
          <a:xfrm>
            <a:off x="548640" y="2286000"/>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7" name="texte-118"/>
          <p:cNvSpPr txBox="1"/>
          <p:nvPr/>
        </p:nvSpPr>
        <p:spPr>
          <a:xfrm>
            <a:off x="822960" y="2286000"/>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Origine</a:t>
            </a:r>
            <a:endParaRPr lang="en-US" sz="1400" dirty="0"/>
          </a:p>
        </p:txBody>
      </p:sp>
      <p:sp>
        <p:nvSpPr>
          <p:cNvPr id="8" name="texte-119"/>
          <p:cNvSpPr txBox="1"/>
          <p:nvPr/>
        </p:nvSpPr>
        <p:spPr>
          <a:xfrm>
            <a:off x="2331720" y="2286000"/>
            <a:ext cx="3520440" cy="640080"/>
          </a:xfrm>
          <a:prstGeom prst="rect">
            <a:avLst/>
          </a:prstGeom>
          <a:noFill/>
          <a:ln/>
        </p:spPr>
        <p:txBody>
          <a:bodyPr wrap="square" lIns="0" tIns="0" rIns="0" bIns="0" rtlCol="0" anchor="ctr"/>
          <a:lstStyle/>
          <a:p>
            <a:pPr marL="0" indent="0">
              <a:buNone/>
            </a:pPr>
            <a:r>
              <a:rPr lang="en-US" sz="1600" dirty="0">
                <a:solidFill>
                  <a:schemeClr val="tx1"/>
                </a:solidFill>
              </a:rPr>
              <a:t>Décision dans le Publisher</a:t>
            </a:r>
            <a:endParaRPr lang="en-US" sz="1600" dirty="0"/>
          </a:p>
        </p:txBody>
      </p:sp>
      <p:sp>
        <p:nvSpPr>
          <p:cNvPr id="9" name="carte-120"/>
          <p:cNvSpPr/>
          <p:nvPr/>
        </p:nvSpPr>
        <p:spPr>
          <a:xfrm>
            <a:off x="548640" y="3035808"/>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10" name="texte-121"/>
          <p:cNvSpPr txBox="1"/>
          <p:nvPr/>
        </p:nvSpPr>
        <p:spPr>
          <a:xfrm>
            <a:off x="822960" y="3035808"/>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État WSO2</a:t>
            </a:r>
            <a:endParaRPr lang="en-US" sz="1400" dirty="0"/>
          </a:p>
        </p:txBody>
      </p:sp>
      <p:sp>
        <p:nvSpPr>
          <p:cNvPr id="11" name="texte-122"/>
          <p:cNvSpPr txBox="1"/>
          <p:nvPr/>
        </p:nvSpPr>
        <p:spPr>
          <a:xfrm>
            <a:off x="2331720" y="3035808"/>
            <a:ext cx="3520440" cy="640080"/>
          </a:xfrm>
          <a:prstGeom prst="rect">
            <a:avLst/>
          </a:prstGeom>
          <a:noFill/>
          <a:ln/>
        </p:spPr>
        <p:txBody>
          <a:bodyPr wrap="square" lIns="0" tIns="0" rIns="0" bIns="0" rtlCol="0" anchor="ctr"/>
          <a:lstStyle/>
          <a:p>
            <a:pPr marL="0" indent="0">
              <a:buNone/>
            </a:pPr>
            <a:r>
              <a:rPr lang="en-US" sz="1600" dirty="0">
                <a:solidFill>
                  <a:schemeClr val="tx1"/>
                </a:solidFill>
              </a:rPr>
              <a:t>BLOCKED</a:t>
            </a:r>
            <a:endParaRPr lang="en-US" sz="1600" dirty="0"/>
          </a:p>
        </p:txBody>
      </p:sp>
      <p:sp>
        <p:nvSpPr>
          <p:cNvPr id="12" name="carte-123"/>
          <p:cNvSpPr/>
          <p:nvPr/>
        </p:nvSpPr>
        <p:spPr>
          <a:xfrm>
            <a:off x="548640" y="3785616"/>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13" name="texte-124"/>
          <p:cNvSpPr txBox="1"/>
          <p:nvPr/>
        </p:nvSpPr>
        <p:spPr>
          <a:xfrm>
            <a:off x="822960" y="3785616"/>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Backend</a:t>
            </a:r>
            <a:endParaRPr lang="en-US" sz="1400" dirty="0"/>
          </a:p>
        </p:txBody>
      </p:sp>
      <p:sp>
        <p:nvSpPr>
          <p:cNvPr id="14" name="texte-125"/>
          <p:cNvSpPr txBox="1"/>
          <p:nvPr/>
        </p:nvSpPr>
        <p:spPr>
          <a:xfrm>
            <a:off x="2331720" y="3785616"/>
            <a:ext cx="3520440" cy="640080"/>
          </a:xfrm>
          <a:prstGeom prst="rect">
            <a:avLst/>
          </a:prstGeom>
          <a:noFill/>
          <a:ln/>
        </p:spPr>
        <p:txBody>
          <a:bodyPr wrap="square" lIns="0" tIns="0" rIns="0" bIns="0" rtlCol="0" anchor="ctr"/>
          <a:lstStyle/>
          <a:p>
            <a:pPr marL="0" indent="0">
              <a:buNone/>
            </a:pPr>
            <a:r>
              <a:rPr lang="en-US" sz="1600" dirty="0">
                <a:solidFill>
                  <a:schemeClr val="tx1"/>
                </a:solidFill>
              </a:rPr>
              <a:t>En marche, /health = 200</a:t>
            </a:r>
            <a:endParaRPr lang="en-US" sz="1600" dirty="0"/>
          </a:p>
        </p:txBody>
      </p:sp>
      <p:sp>
        <p:nvSpPr>
          <p:cNvPr id="15" name="carte-126"/>
          <p:cNvSpPr/>
          <p:nvPr/>
        </p:nvSpPr>
        <p:spPr>
          <a:xfrm>
            <a:off x="548640" y="4535424"/>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16" name="texte-127"/>
          <p:cNvSpPr txBox="1"/>
          <p:nvPr/>
        </p:nvSpPr>
        <p:spPr>
          <a:xfrm>
            <a:off x="822960" y="4535424"/>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Réponse</a:t>
            </a:r>
            <a:endParaRPr lang="en-US" sz="1400" dirty="0"/>
          </a:p>
        </p:txBody>
      </p:sp>
      <p:sp>
        <p:nvSpPr>
          <p:cNvPr id="17" name="texte-128"/>
          <p:cNvSpPr txBox="1"/>
          <p:nvPr/>
        </p:nvSpPr>
        <p:spPr>
          <a:xfrm>
            <a:off x="2331720" y="4535424"/>
            <a:ext cx="3520440" cy="640080"/>
          </a:xfrm>
          <a:prstGeom prst="rect">
            <a:avLst/>
          </a:prstGeom>
          <a:noFill/>
          <a:ln/>
        </p:spPr>
        <p:txBody>
          <a:bodyPr wrap="square" lIns="0" tIns="0" rIns="0" bIns="0" rtlCol="0" anchor="ctr"/>
          <a:lstStyle/>
          <a:p>
            <a:pPr marL="0" indent="0">
              <a:buNone/>
            </a:pPr>
            <a:r>
              <a:rPr lang="en-US" sz="1600" dirty="0">
                <a:solidFill>
                  <a:schemeClr val="tx1"/>
                </a:solidFill>
              </a:rPr>
              <a:t>503 · code 700700</a:t>
            </a:r>
            <a:endParaRPr lang="en-US" sz="1600" dirty="0"/>
          </a:p>
        </p:txBody>
      </p:sp>
      <p:sp>
        <p:nvSpPr>
          <p:cNvPr id="18" name="carte-129"/>
          <p:cNvSpPr/>
          <p:nvPr/>
        </p:nvSpPr>
        <p:spPr>
          <a:xfrm>
            <a:off x="548640" y="5285232"/>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19" name="texte-130"/>
          <p:cNvSpPr txBox="1"/>
          <p:nvPr/>
        </p:nvSpPr>
        <p:spPr>
          <a:xfrm>
            <a:off x="822960" y="5285232"/>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Retour</a:t>
            </a:r>
            <a:endParaRPr lang="en-US" sz="1400" dirty="0"/>
          </a:p>
        </p:txBody>
      </p:sp>
      <p:sp>
        <p:nvSpPr>
          <p:cNvPr id="20" name="texte-131"/>
          <p:cNvSpPr txBox="1"/>
          <p:nvPr/>
        </p:nvSpPr>
        <p:spPr>
          <a:xfrm>
            <a:off x="2331720" y="5285232"/>
            <a:ext cx="3520440" cy="640080"/>
          </a:xfrm>
          <a:prstGeom prst="rect">
            <a:avLst/>
          </a:prstGeom>
          <a:noFill/>
          <a:ln/>
        </p:spPr>
        <p:txBody>
          <a:bodyPr wrap="square" lIns="0" tIns="0" rIns="0" bIns="0" rtlCol="0" anchor="ctr"/>
          <a:lstStyle/>
          <a:p>
            <a:pPr marL="0" indent="0">
              <a:buNone/>
            </a:pPr>
            <a:r>
              <a:rPr lang="en-US" sz="1600" dirty="0">
                <a:solidFill>
                  <a:schemeClr val="tx1"/>
                </a:solidFill>
              </a:rPr>
              <a:t>Re-Publish</a:t>
            </a:r>
            <a:endParaRPr lang="en-US" sz="1600" dirty="0"/>
          </a:p>
        </p:txBody>
      </p:sp>
      <p:sp>
        <p:nvSpPr>
          <p:cNvPr id="21" name="entete-132"/>
          <p:cNvSpPr/>
          <p:nvPr/>
        </p:nvSpPr>
        <p:spPr>
          <a:xfrm>
            <a:off x="6217920" y="1417320"/>
            <a:ext cx="5440680" cy="685800"/>
          </a:xfrm>
          <a:prstGeom prst="roundRect">
            <a:avLst>
              <a:gd name="adj" fmla="val 16000"/>
            </a:avLst>
          </a:prstGeom>
          <a:solidFill>
            <a:schemeClr val="accent3"/>
          </a:solidFill>
          <a:ln w="12700">
            <a:solidFill>
              <a:schemeClr val="accent3"/>
            </a:solidFill>
            <a:prstDash val="solid"/>
          </a:ln>
        </p:spPr>
        <p:txBody>
          <a:bodyPr/>
          <a:lstStyle/>
          <a:p>
            <a:endParaRPr/>
          </a:p>
        </p:txBody>
      </p:sp>
      <p:sp>
        <p:nvSpPr>
          <p:cNvPr id="22" name="texte-133"/>
          <p:cNvSpPr txBox="1"/>
          <p:nvPr/>
        </p:nvSpPr>
        <p:spPr>
          <a:xfrm>
            <a:off x="6492240" y="1417320"/>
            <a:ext cx="4937760" cy="685800"/>
          </a:xfrm>
          <a:prstGeom prst="rect">
            <a:avLst/>
          </a:prstGeom>
          <a:noFill/>
          <a:ln/>
        </p:spPr>
        <p:txBody>
          <a:bodyPr wrap="square" lIns="0" tIns="0" rIns="0" bIns="0" rtlCol="0" anchor="ctr"/>
          <a:lstStyle/>
          <a:p>
            <a:pPr marL="0" indent="0">
              <a:buNone/>
            </a:pPr>
            <a:r>
              <a:rPr lang="en-US" sz="2000" b="1" dirty="0">
                <a:solidFill>
                  <a:schemeClr val="bg1"/>
                </a:solidFill>
              </a:rPr>
              <a:t>Arrêt technique</a:t>
            </a:r>
            <a:endParaRPr lang="en-US" sz="2000" dirty="0"/>
          </a:p>
        </p:txBody>
      </p:sp>
      <p:sp>
        <p:nvSpPr>
          <p:cNvPr id="23" name="carte-134"/>
          <p:cNvSpPr/>
          <p:nvPr/>
        </p:nvSpPr>
        <p:spPr>
          <a:xfrm>
            <a:off x="6217920" y="2286000"/>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24" name="texte-135"/>
          <p:cNvSpPr txBox="1"/>
          <p:nvPr/>
        </p:nvSpPr>
        <p:spPr>
          <a:xfrm>
            <a:off x="6492240" y="2286000"/>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Origine</a:t>
            </a:r>
            <a:endParaRPr lang="en-US" sz="1400" dirty="0"/>
          </a:p>
        </p:txBody>
      </p:sp>
      <p:sp>
        <p:nvSpPr>
          <p:cNvPr id="25" name="texte-136"/>
          <p:cNvSpPr txBox="1"/>
          <p:nvPr/>
        </p:nvSpPr>
        <p:spPr>
          <a:xfrm>
            <a:off x="8001000" y="2286000"/>
            <a:ext cx="3520440" cy="640080"/>
          </a:xfrm>
          <a:prstGeom prst="rect">
            <a:avLst/>
          </a:prstGeom>
          <a:noFill/>
          <a:ln/>
        </p:spPr>
        <p:txBody>
          <a:bodyPr wrap="square" lIns="0" tIns="0" rIns="0" bIns="0" rtlCol="0" anchor="ctr"/>
          <a:lstStyle/>
          <a:p>
            <a:pPr marL="0" indent="0">
              <a:buNone/>
            </a:pPr>
            <a:r>
              <a:rPr lang="en-US" sz="1600" dirty="0">
                <a:solidFill>
                  <a:schemeClr val="tx1"/>
                </a:solidFill>
              </a:rPr>
              <a:t>Panne ou arrêt du backend</a:t>
            </a:r>
            <a:endParaRPr lang="en-US" sz="1600" dirty="0"/>
          </a:p>
        </p:txBody>
      </p:sp>
      <p:sp>
        <p:nvSpPr>
          <p:cNvPr id="26" name="carte-137"/>
          <p:cNvSpPr/>
          <p:nvPr/>
        </p:nvSpPr>
        <p:spPr>
          <a:xfrm>
            <a:off x="6217920" y="3035808"/>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27" name="texte-138"/>
          <p:cNvSpPr txBox="1"/>
          <p:nvPr/>
        </p:nvSpPr>
        <p:spPr>
          <a:xfrm>
            <a:off x="6492240" y="3035808"/>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État WSO2</a:t>
            </a:r>
            <a:endParaRPr lang="en-US" sz="1400" dirty="0"/>
          </a:p>
        </p:txBody>
      </p:sp>
      <p:sp>
        <p:nvSpPr>
          <p:cNvPr id="28" name="texte-139"/>
          <p:cNvSpPr txBox="1"/>
          <p:nvPr/>
        </p:nvSpPr>
        <p:spPr>
          <a:xfrm>
            <a:off x="8001000" y="3035808"/>
            <a:ext cx="3520440" cy="640080"/>
          </a:xfrm>
          <a:prstGeom prst="rect">
            <a:avLst/>
          </a:prstGeom>
          <a:noFill/>
          <a:ln/>
        </p:spPr>
        <p:txBody>
          <a:bodyPr wrap="square" lIns="0" tIns="0" rIns="0" bIns="0" rtlCol="0" anchor="ctr"/>
          <a:lstStyle/>
          <a:p>
            <a:pPr marL="0" indent="0">
              <a:buNone/>
            </a:pPr>
            <a:r>
              <a:rPr lang="en-US" sz="1600" dirty="0">
                <a:solidFill>
                  <a:schemeClr val="tx1"/>
                </a:solidFill>
              </a:rPr>
              <a:t>PUBLISHED, inchangé</a:t>
            </a:r>
            <a:endParaRPr lang="en-US" sz="1600" dirty="0"/>
          </a:p>
        </p:txBody>
      </p:sp>
      <p:sp>
        <p:nvSpPr>
          <p:cNvPr id="29" name="carte-140"/>
          <p:cNvSpPr/>
          <p:nvPr/>
        </p:nvSpPr>
        <p:spPr>
          <a:xfrm>
            <a:off x="6217920" y="3785616"/>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30" name="texte-141"/>
          <p:cNvSpPr txBox="1"/>
          <p:nvPr/>
        </p:nvSpPr>
        <p:spPr>
          <a:xfrm>
            <a:off x="6492240" y="3785616"/>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Backend</a:t>
            </a:r>
            <a:endParaRPr lang="en-US" sz="1400" dirty="0"/>
          </a:p>
        </p:txBody>
      </p:sp>
      <p:sp>
        <p:nvSpPr>
          <p:cNvPr id="31" name="texte-142"/>
          <p:cNvSpPr txBox="1"/>
          <p:nvPr/>
        </p:nvSpPr>
        <p:spPr>
          <a:xfrm>
            <a:off x="8001000" y="3785616"/>
            <a:ext cx="3520440" cy="640080"/>
          </a:xfrm>
          <a:prstGeom prst="rect">
            <a:avLst/>
          </a:prstGeom>
          <a:noFill/>
          <a:ln/>
        </p:spPr>
        <p:txBody>
          <a:bodyPr wrap="square" lIns="0" tIns="0" rIns="0" bIns="0" rtlCol="0" anchor="ctr"/>
          <a:lstStyle/>
          <a:p>
            <a:pPr marL="0" indent="0">
              <a:buNone/>
            </a:pPr>
            <a:r>
              <a:rPr lang="en-US" sz="1600" dirty="0">
                <a:solidFill>
                  <a:schemeClr val="tx1"/>
                </a:solidFill>
              </a:rPr>
              <a:t>Arrêté</a:t>
            </a:r>
            <a:endParaRPr lang="en-US" sz="1600" dirty="0"/>
          </a:p>
        </p:txBody>
      </p:sp>
      <p:sp>
        <p:nvSpPr>
          <p:cNvPr id="32" name="carte-143"/>
          <p:cNvSpPr/>
          <p:nvPr/>
        </p:nvSpPr>
        <p:spPr>
          <a:xfrm>
            <a:off x="6217920" y="4535424"/>
            <a:ext cx="5440680" cy="640080"/>
          </a:xfrm>
          <a:prstGeom prst="roundRect">
            <a:avLst>
              <a:gd name="adj" fmla="val 17143"/>
            </a:avLst>
          </a:prstGeom>
          <a:solidFill>
            <a:schemeClr val="bg2"/>
          </a:solidFill>
          <a:ln w="12700">
            <a:solidFill>
              <a:schemeClr val="bg2"/>
            </a:solidFill>
            <a:prstDash val="solid"/>
          </a:ln>
        </p:spPr>
        <p:txBody>
          <a:bodyPr/>
          <a:lstStyle/>
          <a:p>
            <a:endParaRPr/>
          </a:p>
        </p:txBody>
      </p:sp>
      <p:sp>
        <p:nvSpPr>
          <p:cNvPr id="33" name="texte-144"/>
          <p:cNvSpPr txBox="1"/>
          <p:nvPr/>
        </p:nvSpPr>
        <p:spPr>
          <a:xfrm>
            <a:off x="6492240" y="4535424"/>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Réponse</a:t>
            </a:r>
            <a:endParaRPr lang="en-US" sz="1400" dirty="0"/>
          </a:p>
        </p:txBody>
      </p:sp>
      <p:sp>
        <p:nvSpPr>
          <p:cNvPr id="34" name="texte-145"/>
          <p:cNvSpPr txBox="1"/>
          <p:nvPr/>
        </p:nvSpPr>
        <p:spPr>
          <a:xfrm>
            <a:off x="8001000" y="4535424"/>
            <a:ext cx="3520440" cy="640080"/>
          </a:xfrm>
          <a:prstGeom prst="rect">
            <a:avLst/>
          </a:prstGeom>
          <a:noFill/>
          <a:ln/>
        </p:spPr>
        <p:txBody>
          <a:bodyPr wrap="square" lIns="0" tIns="0" rIns="0" bIns="0" rtlCol="0" anchor="ctr"/>
          <a:lstStyle/>
          <a:p>
            <a:pPr marL="0" indent="0">
              <a:buNone/>
            </a:pPr>
            <a:r>
              <a:rPr lang="en-US" sz="1600" dirty="0">
                <a:solidFill>
                  <a:schemeClr val="tx1"/>
                </a:solidFill>
              </a:rPr>
              <a:t>500 · code 101503</a:t>
            </a:r>
            <a:endParaRPr lang="en-US" sz="1600" dirty="0"/>
          </a:p>
        </p:txBody>
      </p:sp>
      <p:sp>
        <p:nvSpPr>
          <p:cNvPr id="35" name="carte-146"/>
          <p:cNvSpPr/>
          <p:nvPr/>
        </p:nvSpPr>
        <p:spPr>
          <a:xfrm>
            <a:off x="6217920" y="5285232"/>
            <a:ext cx="5440680" cy="640080"/>
          </a:xfrm>
          <a:prstGeom prst="roundRect">
            <a:avLst>
              <a:gd name="adj" fmla="val 17143"/>
            </a:avLst>
          </a:prstGeom>
          <a:solidFill>
            <a:schemeClr val="bg2"/>
          </a:solidFill>
          <a:ln w="12700">
            <a:solidFill>
              <a:schemeClr val="bg2"/>
            </a:solidFill>
            <a:prstDash val="solid"/>
          </a:ln>
        </p:spPr>
      </p:sp>
      <p:sp>
        <p:nvSpPr>
          <p:cNvPr id="36" name="texte-147"/>
          <p:cNvSpPr txBox="1"/>
          <p:nvPr/>
        </p:nvSpPr>
        <p:spPr>
          <a:xfrm>
            <a:off x="6492240" y="5285232"/>
            <a:ext cx="1463040" cy="640080"/>
          </a:xfrm>
          <a:prstGeom prst="rect">
            <a:avLst/>
          </a:prstGeom>
          <a:noFill/>
          <a:ln/>
        </p:spPr>
        <p:txBody>
          <a:bodyPr wrap="square" lIns="0" tIns="0" rIns="0" bIns="0" rtlCol="0" anchor="ctr"/>
          <a:lstStyle/>
          <a:p>
            <a:pPr marL="0" indent="0">
              <a:buNone/>
            </a:pPr>
            <a:r>
              <a:rPr lang="en-US" sz="1400" b="1" dirty="0">
                <a:solidFill>
                  <a:schemeClr val="accent4"/>
                </a:solidFill>
              </a:rPr>
              <a:t>Retour</a:t>
            </a:r>
            <a:endParaRPr lang="en-US" sz="1400" dirty="0"/>
          </a:p>
        </p:txBody>
      </p:sp>
      <p:sp>
        <p:nvSpPr>
          <p:cNvPr id="37" name="texte-148"/>
          <p:cNvSpPr txBox="1"/>
          <p:nvPr/>
        </p:nvSpPr>
        <p:spPr>
          <a:xfrm>
            <a:off x="8001000" y="5285232"/>
            <a:ext cx="3520440" cy="640080"/>
          </a:xfrm>
          <a:prstGeom prst="rect">
            <a:avLst/>
          </a:prstGeom>
          <a:noFill/>
          <a:ln/>
        </p:spPr>
        <p:txBody>
          <a:bodyPr wrap="square" lIns="0" tIns="0" rIns="0" bIns="0" rtlCol="0" anchor="ctr"/>
          <a:lstStyle/>
          <a:p>
            <a:pPr marL="0" indent="0">
              <a:buNone/>
            </a:pPr>
            <a:r>
              <a:rPr lang="en-US" sz="1600" dirty="0">
                <a:solidFill>
                  <a:schemeClr val="tx1"/>
                </a:solidFill>
              </a:rPr>
              <a:t>Redémarrer le service</a:t>
            </a:r>
            <a:endParaRPr lang="en-US" sz="16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La v2 enrichit l'API sans casser la v1</a:t>
            </a:r>
            <a:endParaRPr lang="en-US" sz="3200" dirty="0"/>
          </a:p>
        </p:txBody>
      </p:sp>
      <p:sp>
        <p:nvSpPr>
          <p:cNvPr id="4" name="carte-149"/>
          <p:cNvSpPr/>
          <p:nvPr/>
        </p:nvSpPr>
        <p:spPr>
          <a:xfrm>
            <a:off x="548640" y="1463040"/>
            <a:ext cx="5212080" cy="4480560"/>
          </a:xfrm>
          <a:prstGeom prst="roundRect">
            <a:avLst>
              <a:gd name="adj" fmla="val 2449"/>
            </a:avLst>
          </a:prstGeom>
          <a:solidFill>
            <a:schemeClr val="bg2"/>
          </a:solidFill>
          <a:ln w="12700">
            <a:solidFill>
              <a:schemeClr val="bg2"/>
            </a:solidFill>
            <a:prstDash val="solid"/>
          </a:ln>
        </p:spPr>
      </p:sp>
      <p:sp>
        <p:nvSpPr>
          <p:cNvPr id="5" name="texte-150"/>
          <p:cNvSpPr txBox="1"/>
          <p:nvPr/>
        </p:nvSpPr>
        <p:spPr>
          <a:xfrm>
            <a:off x="822960" y="1691640"/>
            <a:ext cx="4663440" cy="411480"/>
          </a:xfrm>
          <a:prstGeom prst="rect">
            <a:avLst/>
          </a:prstGeom>
          <a:noFill/>
          <a:ln/>
        </p:spPr>
        <p:txBody>
          <a:bodyPr wrap="square" lIns="0" tIns="0" rIns="0" bIns="0" rtlCol="0" anchor="t"/>
          <a:lstStyle/>
          <a:p>
            <a:pPr marL="0" indent="0">
              <a:buNone/>
            </a:pPr>
            <a:r>
              <a:rPr lang="en-US" sz="2000" b="1" dirty="0">
                <a:solidFill>
                  <a:schemeClr val="tx2"/>
                </a:solidFill>
              </a:rPr>
              <a:t>v1 · /structures/1.0.0</a:t>
            </a:r>
            <a:endParaRPr lang="en-US" sz="2000" dirty="0"/>
          </a:p>
        </p:txBody>
      </p:sp>
      <p:sp>
        <p:nvSpPr>
          <p:cNvPr id="6" name="texte-151"/>
          <p:cNvSpPr txBox="1"/>
          <p:nvPr/>
        </p:nvSpPr>
        <p:spPr>
          <a:xfrm>
            <a:off x="822960" y="2240280"/>
            <a:ext cx="4663440" cy="914400"/>
          </a:xfrm>
          <a:prstGeom prst="rect">
            <a:avLst/>
          </a:prstGeom>
          <a:noFill/>
          <a:ln/>
        </p:spPr>
        <p:txBody>
          <a:bodyPr wrap="square" lIns="0" tIns="0" rIns="0" bIns="0" rtlCol="0" anchor="t"/>
          <a:lstStyle/>
          <a:p>
            <a:pPr marL="0" indent="0">
              <a:buNone/>
            </a:pPr>
            <a:r>
              <a:rPr lang="en-US" sz="1600" dirty="0">
                <a:solidFill>
                  <a:schemeClr val="tx1"/>
                </a:solidFill>
              </a:rPr>
              <a:t>id, code, nom, type, statut, region, province, commune, telephone</a:t>
            </a:r>
            <a:endParaRPr lang="en-US" sz="1600" dirty="0"/>
          </a:p>
        </p:txBody>
      </p:sp>
      <p:sp>
        <p:nvSpPr>
          <p:cNvPr id="7" name="texte-152"/>
          <p:cNvSpPr txBox="1"/>
          <p:nvPr/>
        </p:nvSpPr>
        <p:spPr>
          <a:xfrm>
            <a:off x="822960" y="3291840"/>
            <a:ext cx="4663440" cy="365760"/>
          </a:xfrm>
          <a:prstGeom prst="rect">
            <a:avLst/>
          </a:prstGeom>
          <a:noFill/>
          <a:ln/>
        </p:spPr>
        <p:txBody>
          <a:bodyPr wrap="square" lIns="0" tIns="0" rIns="0" bIns="0" rtlCol="0" anchor="t"/>
          <a:lstStyle/>
          <a:p>
            <a:pPr marL="0" indent="0">
              <a:buNone/>
            </a:pPr>
            <a:r>
              <a:rPr lang="en-US" sz="1400" dirty="0">
                <a:solidFill>
                  <a:schemeClr val="accent4"/>
                </a:solidFill>
              </a:rPr>
              <a:t>Filtres : region, type, statut</a:t>
            </a:r>
            <a:endParaRPr lang="en-US" sz="1400" dirty="0"/>
          </a:p>
        </p:txBody>
      </p:sp>
      <p:sp>
        <p:nvSpPr>
          <p:cNvPr id="8" name="texte-153"/>
          <p:cNvSpPr txBox="1"/>
          <p:nvPr/>
        </p:nvSpPr>
        <p:spPr>
          <a:xfrm>
            <a:off x="822960" y="5120640"/>
            <a:ext cx="4663440" cy="548640"/>
          </a:xfrm>
          <a:prstGeom prst="rect">
            <a:avLst/>
          </a:prstGeom>
          <a:noFill/>
          <a:ln/>
        </p:spPr>
        <p:txBody>
          <a:bodyPr wrap="square" lIns="0" tIns="0" rIns="0" bIns="0" rtlCol="0" anchor="t"/>
          <a:lstStyle/>
          <a:p>
            <a:pPr marL="0" indent="0">
              <a:buNone/>
            </a:pPr>
            <a:r>
              <a:rPr lang="en-US" sz="1400" i="1" dirty="0">
                <a:solidFill>
                  <a:schemeClr val="accent4"/>
                </a:solidFill>
              </a:rPr>
              <a:t>État : DEPRECATED après publication de la v2</a:t>
            </a:r>
            <a:endParaRPr lang="en-US" sz="1400" dirty="0"/>
          </a:p>
        </p:txBody>
      </p:sp>
      <p:sp>
        <p:nvSpPr>
          <p:cNvPr id="9" name="fleche-154"/>
          <p:cNvSpPr/>
          <p:nvPr/>
        </p:nvSpPr>
        <p:spPr>
          <a:xfrm>
            <a:off x="5806440" y="3703320"/>
            <a:ext cx="548640" cy="0"/>
          </a:xfrm>
          <a:prstGeom prst="line">
            <a:avLst/>
          </a:prstGeom>
          <a:noFill/>
          <a:ln w="22225">
            <a:solidFill>
              <a:schemeClr val="accent1"/>
            </a:solidFill>
            <a:prstDash val="solid"/>
            <a:tailEnd type="triangle"/>
          </a:ln>
        </p:spPr>
      </p:sp>
      <p:sp>
        <p:nvSpPr>
          <p:cNvPr id="10" name="carte-v2"/>
          <p:cNvSpPr/>
          <p:nvPr/>
        </p:nvSpPr>
        <p:spPr>
          <a:xfrm>
            <a:off x="6446520" y="1463040"/>
            <a:ext cx="5212080" cy="4480560"/>
          </a:xfrm>
          <a:prstGeom prst="roundRect">
            <a:avLst>
              <a:gd name="adj" fmla="val 2449"/>
            </a:avLst>
          </a:prstGeom>
          <a:solidFill>
            <a:schemeClr val="bg1"/>
          </a:solidFill>
          <a:ln w="25400">
            <a:solidFill>
              <a:schemeClr val="accent1"/>
            </a:solidFill>
            <a:prstDash val="solid"/>
          </a:ln>
        </p:spPr>
      </p:sp>
      <p:sp>
        <p:nvSpPr>
          <p:cNvPr id="11" name="texte-155"/>
          <p:cNvSpPr txBox="1"/>
          <p:nvPr/>
        </p:nvSpPr>
        <p:spPr>
          <a:xfrm>
            <a:off x="6720840" y="1691640"/>
            <a:ext cx="4663440" cy="411480"/>
          </a:xfrm>
          <a:prstGeom prst="rect">
            <a:avLst/>
          </a:prstGeom>
          <a:noFill/>
          <a:ln/>
        </p:spPr>
        <p:txBody>
          <a:bodyPr wrap="square" lIns="0" tIns="0" rIns="0" bIns="0" rtlCol="0" anchor="t"/>
          <a:lstStyle/>
          <a:p>
            <a:pPr marL="0" indent="0">
              <a:buNone/>
            </a:pPr>
            <a:r>
              <a:rPr lang="en-US" sz="2000" b="1" dirty="0">
                <a:solidFill>
                  <a:schemeClr val="accent1"/>
                </a:solidFill>
              </a:rPr>
              <a:t>v2 · /structures/2.0.0</a:t>
            </a:r>
            <a:endParaRPr lang="en-US" sz="2000" dirty="0"/>
          </a:p>
        </p:txBody>
      </p:sp>
      <p:sp>
        <p:nvSpPr>
          <p:cNvPr id="12" name="texte-156"/>
          <p:cNvSpPr txBox="1"/>
          <p:nvPr/>
        </p:nvSpPr>
        <p:spPr>
          <a:xfrm>
            <a:off x="6720840" y="2240280"/>
            <a:ext cx="4663440" cy="365760"/>
          </a:xfrm>
          <a:prstGeom prst="rect">
            <a:avLst/>
          </a:prstGeom>
          <a:noFill/>
          <a:ln/>
        </p:spPr>
        <p:txBody>
          <a:bodyPr wrap="square" lIns="0" tIns="0" rIns="0" bIns="0" rtlCol="0" anchor="t"/>
          <a:lstStyle/>
          <a:p>
            <a:pPr marL="0" indent="0">
              <a:buNone/>
            </a:pPr>
            <a:r>
              <a:rPr lang="en-US" sz="1600" dirty="0">
                <a:solidFill>
                  <a:schemeClr val="tx1"/>
                </a:solidFill>
              </a:rPr>
              <a:t>Tous les champs v1, plus :</a:t>
            </a:r>
            <a:endParaRPr lang="en-US" sz="1600" dirty="0"/>
          </a:p>
        </p:txBody>
      </p:sp>
      <p:sp>
        <p:nvSpPr>
          <p:cNvPr id="13" name="texte-157"/>
          <p:cNvSpPr txBox="1"/>
          <p:nvPr/>
        </p:nvSpPr>
        <p:spPr>
          <a:xfrm>
            <a:off x="6720840" y="2651760"/>
            <a:ext cx="4663440" cy="914400"/>
          </a:xfrm>
          <a:prstGeom prst="rect">
            <a:avLst/>
          </a:prstGeom>
          <a:noFill/>
          <a:ln/>
        </p:spPr>
        <p:txBody>
          <a:bodyPr wrap="square" lIns="0" tIns="0" rIns="0" bIns="0" rtlCol="0" anchor="t"/>
          <a:lstStyle/>
          <a:p>
            <a:pPr marL="0" indent="0">
              <a:buNone/>
            </a:pPr>
            <a:r>
              <a:rPr lang="en-US" sz="1600" b="1" dirty="0">
                <a:solidFill>
                  <a:schemeClr val="tx2"/>
                </a:solidFill>
              </a:rPr>
              <a:t>district, adresse, email, capacite_lits, services, latitude, longitude, date_ouverture</a:t>
            </a:r>
            <a:endParaRPr lang="en-US" sz="1600" dirty="0"/>
          </a:p>
        </p:txBody>
      </p:sp>
      <p:sp>
        <p:nvSpPr>
          <p:cNvPr id="14" name="texte-158"/>
          <p:cNvSpPr txBox="1"/>
          <p:nvPr/>
        </p:nvSpPr>
        <p:spPr>
          <a:xfrm>
            <a:off x="6720840" y="3703320"/>
            <a:ext cx="4663440" cy="365760"/>
          </a:xfrm>
          <a:prstGeom prst="rect">
            <a:avLst/>
          </a:prstGeom>
          <a:noFill/>
          <a:ln/>
        </p:spPr>
        <p:txBody>
          <a:bodyPr wrap="square" lIns="0" tIns="0" rIns="0" bIns="0" rtlCol="0" anchor="t"/>
          <a:lstStyle/>
          <a:p>
            <a:pPr marL="0" indent="0">
              <a:buNone/>
            </a:pPr>
            <a:r>
              <a:rPr lang="en-US" sz="1400" dirty="0">
                <a:solidFill>
                  <a:schemeClr val="accent4"/>
                </a:solidFill>
              </a:rPr>
              <a:t>Filtres : region, type, statut, district</a:t>
            </a:r>
            <a:endParaRPr lang="en-US" sz="1400" dirty="0"/>
          </a:p>
        </p:txBody>
      </p:sp>
      <p:sp>
        <p:nvSpPr>
          <p:cNvPr id="15" name="texte-159"/>
          <p:cNvSpPr txBox="1"/>
          <p:nvPr/>
        </p:nvSpPr>
        <p:spPr>
          <a:xfrm>
            <a:off x="6720840" y="5120640"/>
            <a:ext cx="4663440" cy="548640"/>
          </a:xfrm>
          <a:prstGeom prst="rect">
            <a:avLst/>
          </a:prstGeom>
          <a:noFill/>
          <a:ln/>
        </p:spPr>
        <p:txBody>
          <a:bodyPr wrap="square" lIns="0" tIns="0" rIns="0" bIns="0" rtlCol="0" anchor="t"/>
          <a:lstStyle/>
          <a:p>
            <a:pPr marL="0" indent="0">
              <a:buNone/>
            </a:pPr>
            <a:r>
              <a:rPr lang="en-US" sz="1400" i="1" dirty="0">
                <a:solidFill>
                  <a:schemeClr val="accent4"/>
                </a:solidFill>
              </a:rPr>
              <a:t>État : PUBLISHED, mêmes souscriptions possibles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Douze scénarios, rejoués automatiquement</a:t>
            </a:r>
            <a:endParaRPr lang="en-US" sz="3200" dirty="0"/>
          </a:p>
        </p:txBody>
      </p:sp>
      <p:sp>
        <p:nvSpPr>
          <p:cNvPr id="4" name="carte-160"/>
          <p:cNvSpPr/>
          <p:nvPr/>
        </p:nvSpPr>
        <p:spPr>
          <a:xfrm>
            <a:off x="548640" y="137160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5" name="texte-161"/>
          <p:cNvSpPr txBox="1"/>
          <p:nvPr/>
        </p:nvSpPr>
        <p:spPr>
          <a:xfrm>
            <a:off x="685800" y="148132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T1</a:t>
            </a:r>
            <a:endParaRPr lang="en-US" sz="1400" dirty="0"/>
          </a:p>
        </p:txBody>
      </p:sp>
      <p:sp>
        <p:nvSpPr>
          <p:cNvPr id="6" name="texte-162"/>
          <p:cNvSpPr txBox="1"/>
          <p:nvPr/>
        </p:nvSpPr>
        <p:spPr>
          <a:xfrm>
            <a:off x="1280160" y="148132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200</a:t>
            </a:r>
            <a:endParaRPr lang="en-US" sz="1200" dirty="0"/>
          </a:p>
        </p:txBody>
      </p:sp>
      <p:sp>
        <p:nvSpPr>
          <p:cNvPr id="7" name="texte-163"/>
          <p:cNvSpPr txBox="1"/>
          <p:nvPr/>
        </p:nvSpPr>
        <p:spPr>
          <a:xfrm>
            <a:off x="685800" y="1874520"/>
            <a:ext cx="1737360" cy="411480"/>
          </a:xfrm>
          <a:prstGeom prst="rect">
            <a:avLst/>
          </a:prstGeom>
          <a:noFill/>
          <a:ln/>
        </p:spPr>
        <p:txBody>
          <a:bodyPr wrap="square" lIns="0" tIns="0" rIns="0" bIns="0" rtlCol="0" anchor="t"/>
          <a:lstStyle/>
          <a:p>
            <a:pPr marL="0" indent="0">
              <a:buNone/>
            </a:pPr>
            <a:r>
              <a:rPr lang="en-US" sz="1400" dirty="0">
                <a:solidFill>
                  <a:schemeClr val="tx1"/>
                </a:solidFill>
              </a:rPr>
              <a:t>Liste paginée</a:t>
            </a:r>
            <a:endParaRPr lang="en-US" sz="1400" dirty="0"/>
          </a:p>
        </p:txBody>
      </p:sp>
      <p:sp>
        <p:nvSpPr>
          <p:cNvPr id="8" name="carte-164"/>
          <p:cNvSpPr/>
          <p:nvPr/>
        </p:nvSpPr>
        <p:spPr>
          <a:xfrm>
            <a:off x="2697480" y="137160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9" name="texte-165"/>
          <p:cNvSpPr txBox="1"/>
          <p:nvPr/>
        </p:nvSpPr>
        <p:spPr>
          <a:xfrm>
            <a:off x="2834640" y="148132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T2</a:t>
            </a:r>
            <a:endParaRPr lang="en-US" sz="1400" dirty="0"/>
          </a:p>
        </p:txBody>
      </p:sp>
      <p:sp>
        <p:nvSpPr>
          <p:cNvPr id="10" name="texte-166"/>
          <p:cNvSpPr txBox="1"/>
          <p:nvPr/>
        </p:nvSpPr>
        <p:spPr>
          <a:xfrm>
            <a:off x="3429000" y="148132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200</a:t>
            </a:r>
            <a:endParaRPr lang="en-US" sz="1200" dirty="0"/>
          </a:p>
        </p:txBody>
      </p:sp>
      <p:sp>
        <p:nvSpPr>
          <p:cNvPr id="11" name="texte-167"/>
          <p:cNvSpPr txBox="1"/>
          <p:nvPr/>
        </p:nvSpPr>
        <p:spPr>
          <a:xfrm>
            <a:off x="2834640" y="1874520"/>
            <a:ext cx="1737360" cy="411480"/>
          </a:xfrm>
          <a:prstGeom prst="rect">
            <a:avLst/>
          </a:prstGeom>
          <a:noFill/>
          <a:ln/>
        </p:spPr>
        <p:txBody>
          <a:bodyPr wrap="square" lIns="0" tIns="0" rIns="0" bIns="0" rtlCol="0" anchor="t"/>
          <a:lstStyle/>
          <a:p>
            <a:pPr marL="0" indent="0">
              <a:buNone/>
            </a:pPr>
            <a:r>
              <a:rPr lang="en-US" sz="1400" dirty="0">
                <a:solidFill>
                  <a:schemeClr val="tx1"/>
                </a:solidFill>
              </a:rPr>
              <a:t>Détail</a:t>
            </a:r>
            <a:endParaRPr lang="en-US" sz="1400" dirty="0"/>
          </a:p>
        </p:txBody>
      </p:sp>
      <p:sp>
        <p:nvSpPr>
          <p:cNvPr id="12" name="carte-168"/>
          <p:cNvSpPr/>
          <p:nvPr/>
        </p:nvSpPr>
        <p:spPr>
          <a:xfrm>
            <a:off x="4846320" y="137160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13" name="texte-169"/>
          <p:cNvSpPr txBox="1"/>
          <p:nvPr/>
        </p:nvSpPr>
        <p:spPr>
          <a:xfrm>
            <a:off x="4983480" y="148132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T3</a:t>
            </a:r>
            <a:endParaRPr lang="en-US" sz="1400" dirty="0"/>
          </a:p>
        </p:txBody>
      </p:sp>
      <p:sp>
        <p:nvSpPr>
          <p:cNvPr id="14" name="texte-170"/>
          <p:cNvSpPr txBox="1"/>
          <p:nvPr/>
        </p:nvSpPr>
        <p:spPr>
          <a:xfrm>
            <a:off x="5577840" y="148132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404</a:t>
            </a:r>
            <a:endParaRPr lang="en-US" sz="1200" dirty="0"/>
          </a:p>
        </p:txBody>
      </p:sp>
      <p:sp>
        <p:nvSpPr>
          <p:cNvPr id="15" name="texte-171"/>
          <p:cNvSpPr txBox="1"/>
          <p:nvPr/>
        </p:nvSpPr>
        <p:spPr>
          <a:xfrm>
            <a:off x="4983480" y="1874520"/>
            <a:ext cx="1737360" cy="411480"/>
          </a:xfrm>
          <a:prstGeom prst="rect">
            <a:avLst/>
          </a:prstGeom>
          <a:noFill/>
          <a:ln/>
        </p:spPr>
        <p:txBody>
          <a:bodyPr wrap="square" lIns="0" tIns="0" rIns="0" bIns="0" rtlCol="0" anchor="t"/>
          <a:lstStyle/>
          <a:p>
            <a:pPr marL="0" indent="0">
              <a:buNone/>
            </a:pPr>
            <a:r>
              <a:rPr lang="en-US" sz="1400" dirty="0">
                <a:solidFill>
                  <a:schemeClr val="tx1"/>
                </a:solidFill>
              </a:rPr>
              <a:t>Inexistant</a:t>
            </a:r>
            <a:endParaRPr lang="en-US" sz="1400" dirty="0"/>
          </a:p>
        </p:txBody>
      </p:sp>
      <p:sp>
        <p:nvSpPr>
          <p:cNvPr id="16" name="carte-172"/>
          <p:cNvSpPr/>
          <p:nvPr/>
        </p:nvSpPr>
        <p:spPr>
          <a:xfrm>
            <a:off x="6995160" y="137160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17" name="texte-173"/>
          <p:cNvSpPr txBox="1"/>
          <p:nvPr/>
        </p:nvSpPr>
        <p:spPr>
          <a:xfrm>
            <a:off x="7132320" y="148132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T4</a:t>
            </a:r>
            <a:endParaRPr lang="en-US" sz="1400" dirty="0"/>
          </a:p>
        </p:txBody>
      </p:sp>
      <p:sp>
        <p:nvSpPr>
          <p:cNvPr id="18" name="texte-174"/>
          <p:cNvSpPr txBox="1"/>
          <p:nvPr/>
        </p:nvSpPr>
        <p:spPr>
          <a:xfrm>
            <a:off x="7726680" y="148132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400</a:t>
            </a:r>
            <a:endParaRPr lang="en-US" sz="1200" dirty="0"/>
          </a:p>
        </p:txBody>
      </p:sp>
      <p:sp>
        <p:nvSpPr>
          <p:cNvPr id="19" name="texte-175"/>
          <p:cNvSpPr txBox="1"/>
          <p:nvPr/>
        </p:nvSpPr>
        <p:spPr>
          <a:xfrm>
            <a:off x="7132320" y="1874520"/>
            <a:ext cx="1737360" cy="411480"/>
          </a:xfrm>
          <a:prstGeom prst="rect">
            <a:avLst/>
          </a:prstGeom>
          <a:noFill/>
          <a:ln/>
        </p:spPr>
        <p:txBody>
          <a:bodyPr wrap="square" lIns="0" tIns="0" rIns="0" bIns="0" rtlCol="0" anchor="t"/>
          <a:lstStyle/>
          <a:p>
            <a:pPr marL="0" indent="0">
              <a:buNone/>
            </a:pPr>
            <a:r>
              <a:rPr lang="en-US" sz="1400" dirty="0">
                <a:solidFill>
                  <a:schemeClr val="tx1"/>
                </a:solidFill>
              </a:rPr>
              <a:t>Paramètre invalide</a:t>
            </a:r>
            <a:endParaRPr lang="en-US" sz="1400" dirty="0"/>
          </a:p>
        </p:txBody>
      </p:sp>
      <p:sp>
        <p:nvSpPr>
          <p:cNvPr id="20" name="carte-176"/>
          <p:cNvSpPr/>
          <p:nvPr/>
        </p:nvSpPr>
        <p:spPr>
          <a:xfrm>
            <a:off x="548640" y="256032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21" name="texte-177"/>
          <p:cNvSpPr txBox="1"/>
          <p:nvPr/>
        </p:nvSpPr>
        <p:spPr>
          <a:xfrm>
            <a:off x="685800" y="267004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T5</a:t>
            </a:r>
            <a:endParaRPr lang="en-US" sz="1400" dirty="0"/>
          </a:p>
        </p:txBody>
      </p:sp>
      <p:sp>
        <p:nvSpPr>
          <p:cNvPr id="22" name="texte-178"/>
          <p:cNvSpPr txBox="1"/>
          <p:nvPr/>
        </p:nvSpPr>
        <p:spPr>
          <a:xfrm>
            <a:off x="1280160" y="267004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401 · 900902</a:t>
            </a:r>
            <a:endParaRPr lang="en-US" sz="1200" dirty="0"/>
          </a:p>
        </p:txBody>
      </p:sp>
      <p:sp>
        <p:nvSpPr>
          <p:cNvPr id="23" name="texte-179"/>
          <p:cNvSpPr txBox="1"/>
          <p:nvPr/>
        </p:nvSpPr>
        <p:spPr>
          <a:xfrm>
            <a:off x="685800" y="3063240"/>
            <a:ext cx="1737360" cy="411480"/>
          </a:xfrm>
          <a:prstGeom prst="rect">
            <a:avLst/>
          </a:prstGeom>
          <a:noFill/>
          <a:ln/>
        </p:spPr>
        <p:txBody>
          <a:bodyPr wrap="square" lIns="0" tIns="0" rIns="0" bIns="0" rtlCol="0" anchor="t"/>
          <a:lstStyle/>
          <a:p>
            <a:pPr marL="0" indent="0">
              <a:buNone/>
            </a:pPr>
            <a:r>
              <a:rPr lang="en-US" sz="1400" dirty="0">
                <a:solidFill>
                  <a:schemeClr val="tx1"/>
                </a:solidFill>
              </a:rPr>
              <a:t>Jeton absent</a:t>
            </a:r>
            <a:endParaRPr lang="en-US" sz="1400" dirty="0"/>
          </a:p>
        </p:txBody>
      </p:sp>
      <p:sp>
        <p:nvSpPr>
          <p:cNvPr id="24" name="carte-180"/>
          <p:cNvSpPr/>
          <p:nvPr/>
        </p:nvSpPr>
        <p:spPr>
          <a:xfrm>
            <a:off x="2697480" y="256032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25" name="texte-181"/>
          <p:cNvSpPr txBox="1"/>
          <p:nvPr/>
        </p:nvSpPr>
        <p:spPr>
          <a:xfrm>
            <a:off x="2834640" y="267004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T6</a:t>
            </a:r>
            <a:endParaRPr lang="en-US" sz="1400" dirty="0"/>
          </a:p>
        </p:txBody>
      </p:sp>
      <p:sp>
        <p:nvSpPr>
          <p:cNvPr id="26" name="texte-182"/>
          <p:cNvSpPr txBox="1"/>
          <p:nvPr/>
        </p:nvSpPr>
        <p:spPr>
          <a:xfrm>
            <a:off x="3429000" y="267004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401 · 900901</a:t>
            </a:r>
            <a:endParaRPr lang="en-US" sz="1200" dirty="0"/>
          </a:p>
        </p:txBody>
      </p:sp>
      <p:sp>
        <p:nvSpPr>
          <p:cNvPr id="27" name="texte-183"/>
          <p:cNvSpPr txBox="1"/>
          <p:nvPr/>
        </p:nvSpPr>
        <p:spPr>
          <a:xfrm>
            <a:off x="2834640" y="3063240"/>
            <a:ext cx="1737360" cy="411480"/>
          </a:xfrm>
          <a:prstGeom prst="rect">
            <a:avLst/>
          </a:prstGeom>
          <a:noFill/>
          <a:ln/>
        </p:spPr>
        <p:txBody>
          <a:bodyPr wrap="square" lIns="0" tIns="0" rIns="0" bIns="0" rtlCol="0" anchor="t"/>
          <a:lstStyle/>
          <a:p>
            <a:pPr marL="0" indent="0">
              <a:buNone/>
            </a:pPr>
            <a:r>
              <a:rPr lang="en-US" sz="1400" dirty="0">
                <a:solidFill>
                  <a:schemeClr val="tx1"/>
                </a:solidFill>
              </a:rPr>
              <a:t>Jeton invalide</a:t>
            </a:r>
            <a:endParaRPr lang="en-US" sz="1400" dirty="0"/>
          </a:p>
        </p:txBody>
      </p:sp>
      <p:sp>
        <p:nvSpPr>
          <p:cNvPr id="28" name="carte-184"/>
          <p:cNvSpPr/>
          <p:nvPr/>
        </p:nvSpPr>
        <p:spPr>
          <a:xfrm>
            <a:off x="4846320" y="256032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29" name="texte-185"/>
          <p:cNvSpPr txBox="1"/>
          <p:nvPr/>
        </p:nvSpPr>
        <p:spPr>
          <a:xfrm>
            <a:off x="4983480" y="267004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T7</a:t>
            </a:r>
            <a:endParaRPr lang="en-US" sz="1400" dirty="0"/>
          </a:p>
        </p:txBody>
      </p:sp>
      <p:sp>
        <p:nvSpPr>
          <p:cNvPr id="30" name="texte-186"/>
          <p:cNvSpPr txBox="1"/>
          <p:nvPr/>
        </p:nvSpPr>
        <p:spPr>
          <a:xfrm>
            <a:off x="5577840" y="267004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403 · 900908</a:t>
            </a:r>
            <a:endParaRPr lang="en-US" sz="1200" dirty="0"/>
          </a:p>
        </p:txBody>
      </p:sp>
      <p:sp>
        <p:nvSpPr>
          <p:cNvPr id="31" name="texte-187"/>
          <p:cNvSpPr txBox="1"/>
          <p:nvPr/>
        </p:nvSpPr>
        <p:spPr>
          <a:xfrm>
            <a:off x="4983480" y="3063240"/>
            <a:ext cx="1737360" cy="411480"/>
          </a:xfrm>
          <a:prstGeom prst="rect">
            <a:avLst/>
          </a:prstGeom>
          <a:noFill/>
          <a:ln/>
        </p:spPr>
        <p:txBody>
          <a:bodyPr wrap="square" lIns="0" tIns="0" rIns="0" bIns="0" rtlCol="0" anchor="t"/>
          <a:lstStyle/>
          <a:p>
            <a:pPr marL="0" indent="0">
              <a:buNone/>
            </a:pPr>
            <a:r>
              <a:rPr lang="en-US" sz="1400" dirty="0">
                <a:solidFill>
                  <a:schemeClr val="tx1"/>
                </a:solidFill>
              </a:rPr>
              <a:t>Non abonnée</a:t>
            </a:r>
            <a:endParaRPr lang="en-US" sz="1400" dirty="0"/>
          </a:p>
        </p:txBody>
      </p:sp>
      <p:sp>
        <p:nvSpPr>
          <p:cNvPr id="32" name="carte-188"/>
          <p:cNvSpPr/>
          <p:nvPr/>
        </p:nvSpPr>
        <p:spPr>
          <a:xfrm>
            <a:off x="6995160" y="256032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33" name="texte-189"/>
          <p:cNvSpPr txBox="1"/>
          <p:nvPr/>
        </p:nvSpPr>
        <p:spPr>
          <a:xfrm>
            <a:off x="7132320" y="267004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T7b</a:t>
            </a:r>
            <a:endParaRPr lang="en-US" sz="1400" dirty="0"/>
          </a:p>
        </p:txBody>
      </p:sp>
      <p:sp>
        <p:nvSpPr>
          <p:cNvPr id="34" name="texte-190"/>
          <p:cNvSpPr txBox="1"/>
          <p:nvPr/>
        </p:nvSpPr>
        <p:spPr>
          <a:xfrm>
            <a:off x="7726680" y="267004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401 · 900907</a:t>
            </a:r>
            <a:endParaRPr lang="en-US" sz="1200" dirty="0"/>
          </a:p>
        </p:txBody>
      </p:sp>
      <p:sp>
        <p:nvSpPr>
          <p:cNvPr id="35" name="texte-191"/>
          <p:cNvSpPr txBox="1"/>
          <p:nvPr/>
        </p:nvSpPr>
        <p:spPr>
          <a:xfrm>
            <a:off x="7132320" y="3063240"/>
            <a:ext cx="1737360" cy="411480"/>
          </a:xfrm>
          <a:prstGeom prst="rect">
            <a:avLst/>
          </a:prstGeom>
          <a:noFill/>
          <a:ln/>
        </p:spPr>
        <p:txBody>
          <a:bodyPr wrap="square" lIns="0" tIns="0" rIns="0" bIns="0" rtlCol="0" anchor="t"/>
          <a:lstStyle/>
          <a:p>
            <a:pPr marL="0" indent="0">
              <a:buNone/>
            </a:pPr>
            <a:r>
              <a:rPr lang="en-US" sz="1400" dirty="0">
                <a:solidFill>
                  <a:schemeClr val="tx1"/>
                </a:solidFill>
              </a:rPr>
              <a:t>Souscription bloquée</a:t>
            </a:r>
            <a:endParaRPr lang="en-US" sz="1400" dirty="0"/>
          </a:p>
        </p:txBody>
      </p:sp>
      <p:sp>
        <p:nvSpPr>
          <p:cNvPr id="36" name="carte-192"/>
          <p:cNvSpPr/>
          <p:nvPr/>
        </p:nvSpPr>
        <p:spPr>
          <a:xfrm>
            <a:off x="548640" y="374904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37" name="texte-193"/>
          <p:cNvSpPr txBox="1"/>
          <p:nvPr/>
        </p:nvSpPr>
        <p:spPr>
          <a:xfrm>
            <a:off x="685800" y="385876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T8</a:t>
            </a:r>
            <a:endParaRPr lang="en-US" sz="1400" dirty="0"/>
          </a:p>
        </p:txBody>
      </p:sp>
      <p:sp>
        <p:nvSpPr>
          <p:cNvPr id="38" name="texte-194"/>
          <p:cNvSpPr txBox="1"/>
          <p:nvPr/>
        </p:nvSpPr>
        <p:spPr>
          <a:xfrm>
            <a:off x="1280160" y="385876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429 · 900804</a:t>
            </a:r>
            <a:endParaRPr lang="en-US" sz="1200" dirty="0"/>
          </a:p>
        </p:txBody>
      </p:sp>
      <p:sp>
        <p:nvSpPr>
          <p:cNvPr id="39" name="texte-195"/>
          <p:cNvSpPr txBox="1"/>
          <p:nvPr/>
        </p:nvSpPr>
        <p:spPr>
          <a:xfrm>
            <a:off x="685800" y="4251960"/>
            <a:ext cx="1737360" cy="411480"/>
          </a:xfrm>
          <a:prstGeom prst="rect">
            <a:avLst/>
          </a:prstGeom>
          <a:noFill/>
          <a:ln/>
        </p:spPr>
        <p:txBody>
          <a:bodyPr wrap="square" lIns="0" tIns="0" rIns="0" bIns="0" rtlCol="0" anchor="t"/>
          <a:lstStyle/>
          <a:p>
            <a:pPr marL="0" indent="0">
              <a:buNone/>
            </a:pPr>
            <a:r>
              <a:rPr lang="en-US" sz="1400" dirty="0">
                <a:solidFill>
                  <a:schemeClr val="tx1"/>
                </a:solidFill>
              </a:rPr>
              <a:t>Quota dépassé</a:t>
            </a:r>
            <a:endParaRPr lang="en-US" sz="1400" dirty="0"/>
          </a:p>
        </p:txBody>
      </p:sp>
      <p:sp>
        <p:nvSpPr>
          <p:cNvPr id="40" name="carte-196"/>
          <p:cNvSpPr/>
          <p:nvPr/>
        </p:nvSpPr>
        <p:spPr>
          <a:xfrm>
            <a:off x="2697480" y="374904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41" name="texte-197"/>
          <p:cNvSpPr txBox="1"/>
          <p:nvPr/>
        </p:nvSpPr>
        <p:spPr>
          <a:xfrm>
            <a:off x="2834640" y="385876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T9</a:t>
            </a:r>
            <a:endParaRPr lang="en-US" sz="1400" dirty="0"/>
          </a:p>
        </p:txBody>
      </p:sp>
      <p:sp>
        <p:nvSpPr>
          <p:cNvPr id="42" name="texte-198"/>
          <p:cNvSpPr txBox="1"/>
          <p:nvPr/>
        </p:nvSpPr>
        <p:spPr>
          <a:xfrm>
            <a:off x="3429000" y="385876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503 · 700700</a:t>
            </a:r>
            <a:endParaRPr lang="en-US" sz="1200" dirty="0"/>
          </a:p>
        </p:txBody>
      </p:sp>
      <p:sp>
        <p:nvSpPr>
          <p:cNvPr id="43" name="texte-199"/>
          <p:cNvSpPr txBox="1"/>
          <p:nvPr/>
        </p:nvSpPr>
        <p:spPr>
          <a:xfrm>
            <a:off x="2834640" y="4251960"/>
            <a:ext cx="1737360" cy="411480"/>
          </a:xfrm>
          <a:prstGeom prst="rect">
            <a:avLst/>
          </a:prstGeom>
          <a:noFill/>
          <a:ln/>
        </p:spPr>
        <p:txBody>
          <a:bodyPr wrap="square" lIns="0" tIns="0" rIns="0" bIns="0" rtlCol="0" anchor="t"/>
          <a:lstStyle/>
          <a:p>
            <a:pPr marL="0" indent="0">
              <a:buNone/>
            </a:pPr>
            <a:r>
              <a:rPr lang="en-US" sz="1400" dirty="0">
                <a:solidFill>
                  <a:schemeClr val="tx1"/>
                </a:solidFill>
              </a:rPr>
              <a:t>API bloquée</a:t>
            </a:r>
            <a:endParaRPr lang="en-US" sz="1400" dirty="0"/>
          </a:p>
        </p:txBody>
      </p:sp>
      <p:sp>
        <p:nvSpPr>
          <p:cNvPr id="44" name="carte-200"/>
          <p:cNvSpPr/>
          <p:nvPr/>
        </p:nvSpPr>
        <p:spPr>
          <a:xfrm>
            <a:off x="4846320" y="374904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45" name="texte-201"/>
          <p:cNvSpPr txBox="1"/>
          <p:nvPr/>
        </p:nvSpPr>
        <p:spPr>
          <a:xfrm>
            <a:off x="4983480" y="385876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T10</a:t>
            </a:r>
            <a:endParaRPr lang="en-US" sz="1400" dirty="0"/>
          </a:p>
        </p:txBody>
      </p:sp>
      <p:sp>
        <p:nvSpPr>
          <p:cNvPr id="46" name="texte-202"/>
          <p:cNvSpPr txBox="1"/>
          <p:nvPr/>
        </p:nvSpPr>
        <p:spPr>
          <a:xfrm>
            <a:off x="5577840" y="385876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500 · 101503</a:t>
            </a:r>
            <a:endParaRPr lang="en-US" sz="1200" dirty="0"/>
          </a:p>
        </p:txBody>
      </p:sp>
      <p:sp>
        <p:nvSpPr>
          <p:cNvPr id="47" name="texte-203"/>
          <p:cNvSpPr txBox="1"/>
          <p:nvPr/>
        </p:nvSpPr>
        <p:spPr>
          <a:xfrm>
            <a:off x="4983480" y="4251960"/>
            <a:ext cx="1737360" cy="411480"/>
          </a:xfrm>
          <a:prstGeom prst="rect">
            <a:avLst/>
          </a:prstGeom>
          <a:noFill/>
          <a:ln/>
        </p:spPr>
        <p:txBody>
          <a:bodyPr wrap="square" lIns="0" tIns="0" rIns="0" bIns="0" rtlCol="0" anchor="t"/>
          <a:lstStyle/>
          <a:p>
            <a:pPr marL="0" indent="0">
              <a:buNone/>
            </a:pPr>
            <a:r>
              <a:rPr lang="en-US" sz="1400" dirty="0">
                <a:solidFill>
                  <a:schemeClr val="tx1"/>
                </a:solidFill>
              </a:rPr>
              <a:t>Backend arrêté</a:t>
            </a:r>
            <a:endParaRPr lang="en-US" sz="1400" dirty="0"/>
          </a:p>
        </p:txBody>
      </p:sp>
      <p:sp>
        <p:nvSpPr>
          <p:cNvPr id="48" name="carte-204"/>
          <p:cNvSpPr/>
          <p:nvPr/>
        </p:nvSpPr>
        <p:spPr>
          <a:xfrm>
            <a:off x="6995160" y="374904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49" name="texte-205"/>
          <p:cNvSpPr txBox="1"/>
          <p:nvPr/>
        </p:nvSpPr>
        <p:spPr>
          <a:xfrm>
            <a:off x="7132320" y="385876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T11</a:t>
            </a:r>
            <a:endParaRPr lang="en-US" sz="1400" dirty="0"/>
          </a:p>
        </p:txBody>
      </p:sp>
      <p:sp>
        <p:nvSpPr>
          <p:cNvPr id="50" name="texte-206"/>
          <p:cNvSpPr txBox="1"/>
          <p:nvPr/>
        </p:nvSpPr>
        <p:spPr>
          <a:xfrm>
            <a:off x="7726680" y="385876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200</a:t>
            </a:r>
            <a:endParaRPr lang="en-US" sz="1200" dirty="0"/>
          </a:p>
        </p:txBody>
      </p:sp>
      <p:sp>
        <p:nvSpPr>
          <p:cNvPr id="51" name="texte-207"/>
          <p:cNvSpPr txBox="1"/>
          <p:nvPr/>
        </p:nvSpPr>
        <p:spPr>
          <a:xfrm>
            <a:off x="7132320" y="4251960"/>
            <a:ext cx="1737360" cy="411480"/>
          </a:xfrm>
          <a:prstGeom prst="rect">
            <a:avLst/>
          </a:prstGeom>
          <a:noFill/>
          <a:ln/>
        </p:spPr>
        <p:txBody>
          <a:bodyPr wrap="square" lIns="0" tIns="0" rIns="0" bIns="0" rtlCol="0" anchor="t"/>
          <a:lstStyle/>
          <a:p>
            <a:pPr marL="0" indent="0">
              <a:buNone/>
            </a:pPr>
            <a:r>
              <a:rPr lang="en-US" sz="1400" dirty="0">
                <a:solidFill>
                  <a:schemeClr val="tx1"/>
                </a:solidFill>
              </a:rPr>
              <a:t>Version 2.0.0</a:t>
            </a:r>
            <a:endParaRPr lang="en-US" sz="1400" dirty="0"/>
          </a:p>
        </p:txBody>
      </p:sp>
      <p:sp>
        <p:nvSpPr>
          <p:cNvPr id="52" name="carte-208"/>
          <p:cNvSpPr/>
          <p:nvPr/>
        </p:nvSpPr>
        <p:spPr>
          <a:xfrm>
            <a:off x="548640" y="4937760"/>
            <a:ext cx="2011680" cy="1051560"/>
          </a:xfrm>
          <a:prstGeom prst="roundRect">
            <a:avLst>
              <a:gd name="adj" fmla="val 10435"/>
            </a:avLst>
          </a:prstGeom>
          <a:solidFill>
            <a:schemeClr val="bg2"/>
          </a:solidFill>
          <a:ln w="12700">
            <a:solidFill>
              <a:schemeClr val="bg2"/>
            </a:solidFill>
            <a:prstDash val="solid"/>
          </a:ln>
        </p:spPr>
        <p:txBody>
          <a:bodyPr/>
          <a:lstStyle/>
          <a:p>
            <a:endParaRPr/>
          </a:p>
        </p:txBody>
      </p:sp>
      <p:sp>
        <p:nvSpPr>
          <p:cNvPr id="53" name="texte-209"/>
          <p:cNvSpPr txBox="1"/>
          <p:nvPr/>
        </p:nvSpPr>
        <p:spPr>
          <a:xfrm>
            <a:off x="685800" y="5047488"/>
            <a:ext cx="731520" cy="320040"/>
          </a:xfrm>
          <a:prstGeom prst="rect">
            <a:avLst/>
          </a:prstGeom>
          <a:noFill/>
          <a:ln/>
        </p:spPr>
        <p:txBody>
          <a:bodyPr wrap="square" lIns="0" tIns="0" rIns="0" bIns="0" rtlCol="0" anchor="t"/>
          <a:lstStyle/>
          <a:p>
            <a:pPr marL="0" indent="0">
              <a:buNone/>
            </a:pPr>
            <a:r>
              <a:rPr lang="en-US" sz="1400" b="1" dirty="0">
                <a:solidFill>
                  <a:schemeClr val="accent1"/>
                </a:solidFill>
              </a:rPr>
              <a:t>T12</a:t>
            </a:r>
            <a:endParaRPr lang="en-US" sz="1400" dirty="0"/>
          </a:p>
        </p:txBody>
      </p:sp>
      <p:sp>
        <p:nvSpPr>
          <p:cNvPr id="54" name="texte-210"/>
          <p:cNvSpPr txBox="1"/>
          <p:nvPr/>
        </p:nvSpPr>
        <p:spPr>
          <a:xfrm>
            <a:off x="1280160" y="5047488"/>
            <a:ext cx="1188720" cy="320040"/>
          </a:xfrm>
          <a:prstGeom prst="rect">
            <a:avLst/>
          </a:prstGeom>
          <a:noFill/>
          <a:ln/>
        </p:spPr>
        <p:txBody>
          <a:bodyPr wrap="square" lIns="0" tIns="0" rIns="0" bIns="0" rtlCol="0" anchor="t"/>
          <a:lstStyle/>
          <a:p>
            <a:pPr marL="0" indent="0" algn="r">
              <a:buNone/>
            </a:pPr>
            <a:r>
              <a:rPr lang="en-US" sz="1200" b="1" dirty="0">
                <a:solidFill>
                  <a:schemeClr val="tx2"/>
                </a:solidFill>
              </a:rPr>
              <a:t>200</a:t>
            </a:r>
            <a:endParaRPr lang="en-US" sz="1200" dirty="0"/>
          </a:p>
        </p:txBody>
      </p:sp>
      <p:sp>
        <p:nvSpPr>
          <p:cNvPr id="55" name="texte-211"/>
          <p:cNvSpPr txBox="1"/>
          <p:nvPr/>
        </p:nvSpPr>
        <p:spPr>
          <a:xfrm>
            <a:off x="685800" y="5440680"/>
            <a:ext cx="1737360" cy="411480"/>
          </a:xfrm>
          <a:prstGeom prst="rect">
            <a:avLst/>
          </a:prstGeom>
          <a:noFill/>
          <a:ln/>
        </p:spPr>
        <p:txBody>
          <a:bodyPr wrap="square" lIns="0" tIns="0" rIns="0" bIns="0" rtlCol="0" anchor="t"/>
          <a:lstStyle/>
          <a:p>
            <a:pPr marL="0" indent="0">
              <a:buNone/>
            </a:pPr>
            <a:r>
              <a:rPr lang="en-US" sz="1400" dirty="0">
                <a:solidFill>
                  <a:schemeClr val="tx1"/>
                </a:solidFill>
              </a:rPr>
              <a:t>Republication</a:t>
            </a:r>
            <a:endParaRPr lang="en-US" sz="1400" dirty="0"/>
          </a:p>
        </p:txBody>
      </p:sp>
      <p:sp>
        <p:nvSpPr>
          <p:cNvPr id="56" name="carte-212"/>
          <p:cNvSpPr/>
          <p:nvPr/>
        </p:nvSpPr>
        <p:spPr>
          <a:xfrm>
            <a:off x="9235440" y="1371600"/>
            <a:ext cx="2423160" cy="4617720"/>
          </a:xfrm>
          <a:prstGeom prst="roundRect">
            <a:avLst>
              <a:gd name="adj" fmla="val 4528"/>
            </a:avLst>
          </a:prstGeom>
          <a:solidFill>
            <a:schemeClr val="accent1"/>
          </a:solidFill>
          <a:ln w="12700">
            <a:solidFill>
              <a:schemeClr val="accent1"/>
            </a:solidFill>
            <a:prstDash val="solid"/>
          </a:ln>
        </p:spPr>
        <p:txBody>
          <a:bodyPr/>
          <a:lstStyle/>
          <a:p>
            <a:endParaRPr/>
          </a:p>
        </p:txBody>
      </p:sp>
      <p:sp>
        <p:nvSpPr>
          <p:cNvPr id="57" name="texte-213"/>
          <p:cNvSpPr txBox="1"/>
          <p:nvPr/>
        </p:nvSpPr>
        <p:spPr>
          <a:xfrm>
            <a:off x="9464040" y="1600200"/>
            <a:ext cx="2011680" cy="4206240"/>
          </a:xfrm>
          <a:prstGeom prst="rect">
            <a:avLst/>
          </a:prstGeom>
          <a:noFill/>
          <a:ln/>
        </p:spPr>
        <p:txBody>
          <a:bodyPr wrap="square" lIns="0" tIns="0" rIns="0" bIns="0" rtlCol="0" anchor="t"/>
          <a:lstStyle/>
          <a:p>
            <a:pPr marL="0" indent="0">
              <a:spcAft>
                <a:spcPts val="400"/>
              </a:spcAft>
              <a:buNone/>
            </a:pPr>
            <a:r>
              <a:rPr lang="en-US" sz="1700" b="1" dirty="0">
                <a:solidFill>
                  <a:schemeClr val="bg1"/>
                </a:solidFill>
              </a:rPr>
              <a:t>pytest</a:t>
            </a:r>
            <a:endParaRPr lang="en-US" sz="1400" dirty="0"/>
          </a:p>
          <a:p>
            <a:pPr marL="0" indent="0">
              <a:spcAft>
                <a:spcPts val="400"/>
              </a:spcAft>
              <a:buNone/>
            </a:pPr>
            <a:r>
              <a:rPr lang="en-US" sz="1400" dirty="0">
                <a:solidFill>
                  <a:schemeClr val="bg1"/>
                </a:solidFill>
              </a:rPr>
              <a:t>30 / 30 tests réussis</a:t>
            </a:r>
            <a:endParaRPr lang="en-US" sz="1400" dirty="0"/>
          </a:p>
          <a:p>
            <a:pPr marL="0" indent="0">
              <a:spcAft>
                <a:spcPts val="400"/>
              </a:spcAft>
              <a:buNone/>
            </a:pPr>
            <a:r>
              <a:rPr lang="en-US" sz="800" dirty="0">
                <a:solidFill>
                  <a:schemeClr val="bg1"/>
                </a:solidFill>
              </a:rPr>
              <a:t> </a:t>
            </a:r>
            <a:endParaRPr lang="en-US" sz="1400" dirty="0"/>
          </a:p>
          <a:p>
            <a:pPr marL="0" indent="0">
              <a:spcAft>
                <a:spcPts val="400"/>
              </a:spcAft>
              <a:buNone/>
            </a:pPr>
            <a:r>
              <a:rPr lang="en-US" sz="1700" b="1" dirty="0">
                <a:solidFill>
                  <a:schemeClr val="bg1"/>
                </a:solidFill>
              </a:rPr>
              <a:t>Postman / Newman</a:t>
            </a:r>
            <a:endParaRPr lang="en-US" sz="1400" dirty="0"/>
          </a:p>
          <a:p>
            <a:pPr marL="0" indent="0">
              <a:spcAft>
                <a:spcPts val="400"/>
              </a:spcAft>
              <a:buNone/>
            </a:pPr>
            <a:r>
              <a:rPr lang="en-US" sz="1400" dirty="0">
                <a:solidFill>
                  <a:schemeClr val="bg1"/>
                </a:solidFill>
              </a:rPr>
              <a:t>27 / 27 assertions réussies</a:t>
            </a:r>
            <a:endParaRPr lang="en-US" sz="1400" dirty="0"/>
          </a:p>
          <a:p>
            <a:pPr marL="0" indent="0">
              <a:spcAft>
                <a:spcPts val="400"/>
              </a:spcAft>
              <a:buNone/>
            </a:pPr>
            <a:r>
              <a:rPr lang="en-US" sz="800" dirty="0">
                <a:solidFill>
                  <a:schemeClr val="bg1"/>
                </a:solidFill>
              </a:rPr>
              <a:t> </a:t>
            </a:r>
            <a:endParaRPr lang="en-US" sz="1400" dirty="0"/>
          </a:p>
          <a:p>
            <a:pPr marL="0" indent="0">
              <a:spcAft>
                <a:spcPts val="400"/>
              </a:spcAft>
              <a:buNone/>
            </a:pPr>
            <a:r>
              <a:rPr lang="en-US" sz="1700" b="1" dirty="0">
                <a:solidFill>
                  <a:schemeClr val="bg1"/>
                </a:solidFill>
              </a:rPr>
              <a:t>e2e.py</a:t>
            </a:r>
            <a:endParaRPr lang="en-US" sz="1400" dirty="0"/>
          </a:p>
          <a:p>
            <a:pPr marL="0" indent="0">
              <a:spcAft>
                <a:spcPts val="400"/>
              </a:spcAft>
              <a:buNone/>
            </a:pPr>
            <a:r>
              <a:rPr lang="en-US" sz="1400" dirty="0">
                <a:solidFill>
                  <a:schemeClr val="bg1"/>
                </a:solidFill>
              </a:rPr>
              <a:t>16 / 16 scénarios réussis</a:t>
            </a:r>
            <a:endParaRPr lang="en-US" sz="1400" dirty="0"/>
          </a:p>
          <a:p>
            <a:pPr marL="0" indent="0">
              <a:spcAft>
                <a:spcPts val="400"/>
              </a:spcAft>
              <a:buNone/>
            </a:pPr>
            <a:r>
              <a:rPr lang="en-US" sz="800" dirty="0">
                <a:solidFill>
                  <a:schemeClr val="bg1"/>
                </a:solidFill>
              </a:rPr>
              <a:t> </a:t>
            </a:r>
            <a:endParaRPr lang="en-US" sz="1400" dirty="0"/>
          </a:p>
          <a:p>
            <a:pPr marL="0" indent="0">
              <a:spcAft>
                <a:spcPts val="400"/>
              </a:spcAft>
              <a:buNone/>
            </a:pPr>
            <a:r>
              <a:rPr lang="en-US" sz="1200" i="1" dirty="0">
                <a:solidFill>
                  <a:schemeClr val="bg1"/>
                </a:solidFill>
              </a:rPr>
              <a:t>Installation neuve du 29/10/2026</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Les preuves : captures réelles de WSO2</a:t>
            </a: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pic>
        <p:nvPicPr>
          <p:cNvPr id="26" name="Picture 25" descr="03-cycle-de-vie-recadre.png"/>
          <p:cNvPicPr>
            <a:picLocks noChangeAspect="1"/>
          </p:cNvPicPr>
          <p:nvPr/>
        </p:nvPicPr>
        <p:blipFill>
          <a:blip r:embed="rId2"/>
          <a:stretch>
            <a:fillRect/>
          </a:stretch>
        </p:blipFill>
        <p:spPr>
          <a:xfrm>
            <a:off x="548640" y="1325880"/>
            <a:ext cx="3520440" cy="2200275"/>
          </a:xfrm>
          <a:prstGeom prst="rect">
            <a:avLst/>
          </a:prstGeom>
          <a:ln w="9525">
            <a:solidFill>
              <a:schemeClr val="accent1"/>
            </a:solidFill>
          </a:ln>
        </p:spPr>
      </p:pic>
      <p:sp>
        <p:nvSpPr>
          <p:cNvPr id="27" name="TextBox 26"/>
          <p:cNvSpPr txBox="1"/>
          <p:nvPr/>
        </p:nvSpPr>
        <p:spPr>
          <a:xfrm>
            <a:off x="548640" y="3581019"/>
            <a:ext cx="3520440" cy="292608"/>
          </a:xfrm>
          <a:prstGeom prst="rect">
            <a:avLst/>
          </a:prstGeom>
          <a:noFill/>
        </p:spPr>
        <p:txBody>
          <a:bodyPr wrap="square" lIns="0" tIns="0" rIns="0" bIns="0">
            <a:spAutoFit/>
          </a:bodyPr>
          <a:lstStyle/>
          <a:p>
            <a:r>
              <a:rPr sz="1200" b="1">
                <a:solidFill>
                  <a:schemeClr val="tx2"/>
                </a:solidFill>
              </a:rPr>
              <a:t>Publisher : </a:t>
            </a:r>
            <a:r>
              <a:rPr sz="1200">
                <a:solidFill>
                  <a:schemeClr val="accent4"/>
                </a:solidFill>
              </a:rPr>
              <a:t>historique du cycle de vie de la v1</a:t>
            </a:r>
          </a:p>
        </p:txBody>
      </p:sp>
      <p:pic>
        <p:nvPicPr>
          <p:cNvPr id="28" name="Picture 27" descr="06-admin-plan-quota.png"/>
          <p:cNvPicPr>
            <a:picLocks noChangeAspect="1"/>
          </p:cNvPicPr>
          <p:nvPr/>
        </p:nvPicPr>
        <p:blipFill>
          <a:blip r:embed="rId3"/>
          <a:stretch>
            <a:fillRect/>
          </a:stretch>
        </p:blipFill>
        <p:spPr>
          <a:xfrm>
            <a:off x="4343400" y="1325880"/>
            <a:ext cx="3520440" cy="2200275"/>
          </a:xfrm>
          <a:prstGeom prst="rect">
            <a:avLst/>
          </a:prstGeom>
          <a:ln w="9525">
            <a:solidFill>
              <a:schemeClr val="accent1"/>
            </a:solidFill>
          </a:ln>
        </p:spPr>
      </p:pic>
      <p:sp>
        <p:nvSpPr>
          <p:cNvPr id="29" name="TextBox 28"/>
          <p:cNvSpPr txBox="1"/>
          <p:nvPr/>
        </p:nvSpPr>
        <p:spPr>
          <a:xfrm>
            <a:off x="4343400" y="3581019"/>
            <a:ext cx="3520440" cy="292608"/>
          </a:xfrm>
          <a:prstGeom prst="rect">
            <a:avLst/>
          </a:prstGeom>
          <a:noFill/>
        </p:spPr>
        <p:txBody>
          <a:bodyPr wrap="square" lIns="0" tIns="0" rIns="0" bIns="0">
            <a:spAutoFit/>
          </a:bodyPr>
          <a:lstStyle/>
          <a:p>
            <a:r>
              <a:rPr sz="1200" b="1">
                <a:solidFill>
                  <a:schemeClr val="tx2"/>
                </a:solidFill>
              </a:rPr>
              <a:t>Admin Portal : </a:t>
            </a:r>
            <a:r>
              <a:rPr sz="1200">
                <a:solidFill>
                  <a:schemeClr val="accent4"/>
                </a:solidFill>
              </a:rPr>
              <a:t>plan de 10 requêtes par minute</a:t>
            </a:r>
          </a:p>
        </p:txBody>
      </p:sp>
      <p:pic>
        <p:nvPicPr>
          <p:cNvPr id="30" name="Picture 29" descr="09-devportal-souscriptions-app.png"/>
          <p:cNvPicPr>
            <a:picLocks noChangeAspect="1"/>
          </p:cNvPicPr>
          <p:nvPr/>
        </p:nvPicPr>
        <p:blipFill>
          <a:blip r:embed="rId4"/>
          <a:stretch>
            <a:fillRect/>
          </a:stretch>
        </p:blipFill>
        <p:spPr>
          <a:xfrm>
            <a:off x="8138160" y="1325880"/>
            <a:ext cx="3520440" cy="2200275"/>
          </a:xfrm>
          <a:prstGeom prst="rect">
            <a:avLst/>
          </a:prstGeom>
          <a:ln w="9525">
            <a:solidFill>
              <a:schemeClr val="accent1"/>
            </a:solidFill>
          </a:ln>
        </p:spPr>
      </p:pic>
      <p:sp>
        <p:nvSpPr>
          <p:cNvPr id="31" name="TextBox 30"/>
          <p:cNvSpPr txBox="1"/>
          <p:nvPr/>
        </p:nvSpPr>
        <p:spPr>
          <a:xfrm>
            <a:off x="8138160" y="3581019"/>
            <a:ext cx="3520440" cy="292608"/>
          </a:xfrm>
          <a:prstGeom prst="rect">
            <a:avLst/>
          </a:prstGeom>
          <a:noFill/>
        </p:spPr>
        <p:txBody>
          <a:bodyPr wrap="square" lIns="0" tIns="0" rIns="0" bIns="0">
            <a:spAutoFit/>
          </a:bodyPr>
          <a:lstStyle/>
          <a:p>
            <a:r>
              <a:rPr sz="1200" b="1">
                <a:solidFill>
                  <a:schemeClr val="tx2"/>
                </a:solidFill>
              </a:rPr>
              <a:t>Developer Portal : </a:t>
            </a:r>
            <a:r>
              <a:rPr sz="1200">
                <a:solidFill>
                  <a:schemeClr val="accent4"/>
                </a:solidFill>
              </a:rPr>
              <a:t>souscriptions v1 et v2</a:t>
            </a:r>
          </a:p>
        </p:txBody>
      </p:sp>
      <p:pic>
        <p:nvPicPr>
          <p:cNvPr id="32" name="Picture 31" descr="15-passerelle-t9-api-bloquee-503.png"/>
          <p:cNvPicPr>
            <a:picLocks noChangeAspect="1"/>
          </p:cNvPicPr>
          <p:nvPr/>
        </p:nvPicPr>
        <p:blipFill>
          <a:blip r:embed="rId5"/>
          <a:stretch>
            <a:fillRect/>
          </a:stretch>
        </p:blipFill>
        <p:spPr>
          <a:xfrm>
            <a:off x="548640" y="4069080"/>
            <a:ext cx="5417820" cy="1503805"/>
          </a:xfrm>
          <a:prstGeom prst="rect">
            <a:avLst/>
          </a:prstGeom>
          <a:ln w="9525">
            <a:solidFill>
              <a:schemeClr val="accent1"/>
            </a:solidFill>
          </a:ln>
        </p:spPr>
      </p:pic>
      <p:sp>
        <p:nvSpPr>
          <p:cNvPr id="33" name="TextBox 32"/>
          <p:cNvSpPr txBox="1"/>
          <p:nvPr/>
        </p:nvSpPr>
        <p:spPr>
          <a:xfrm>
            <a:off x="548640" y="5735899"/>
            <a:ext cx="5417820" cy="292608"/>
          </a:xfrm>
          <a:prstGeom prst="rect">
            <a:avLst/>
          </a:prstGeom>
          <a:noFill/>
        </p:spPr>
        <p:txBody>
          <a:bodyPr wrap="square" lIns="0" tIns="0" rIns="0" bIns="0">
            <a:spAutoFit/>
          </a:bodyPr>
          <a:lstStyle/>
          <a:p>
            <a:r>
              <a:rPr sz="1200" b="1">
                <a:solidFill>
                  <a:schemeClr val="tx2"/>
                </a:solidFill>
              </a:rPr>
              <a:t>T9 : </a:t>
            </a:r>
            <a:r>
              <a:rPr sz="1200">
                <a:solidFill>
                  <a:schemeClr val="accent4"/>
                </a:solidFill>
              </a:rPr>
              <a:t>API bloquée, le backend tourne : 503 / 700700</a:t>
            </a:r>
          </a:p>
        </p:txBody>
      </p:sp>
      <p:pic>
        <p:nvPicPr>
          <p:cNvPr id="34" name="Picture 33" descr="16-passerelle-t10-arret-technique-500.png"/>
          <p:cNvPicPr>
            <a:picLocks noChangeAspect="1"/>
          </p:cNvPicPr>
          <p:nvPr/>
        </p:nvPicPr>
        <p:blipFill>
          <a:blip r:embed="rId6"/>
          <a:stretch>
            <a:fillRect/>
          </a:stretch>
        </p:blipFill>
        <p:spPr>
          <a:xfrm>
            <a:off x="6240780" y="4069080"/>
            <a:ext cx="5417820" cy="1611955"/>
          </a:xfrm>
          <a:prstGeom prst="rect">
            <a:avLst/>
          </a:prstGeom>
          <a:ln w="9525">
            <a:solidFill>
              <a:schemeClr val="accent1"/>
            </a:solidFill>
          </a:ln>
        </p:spPr>
      </p:pic>
      <p:sp>
        <p:nvSpPr>
          <p:cNvPr id="35" name="TextBox 34"/>
          <p:cNvSpPr txBox="1"/>
          <p:nvPr/>
        </p:nvSpPr>
        <p:spPr>
          <a:xfrm>
            <a:off x="6240780" y="5735899"/>
            <a:ext cx="5417820" cy="292608"/>
          </a:xfrm>
          <a:prstGeom prst="rect">
            <a:avLst/>
          </a:prstGeom>
          <a:noFill/>
        </p:spPr>
        <p:txBody>
          <a:bodyPr wrap="square" lIns="0" tIns="0" rIns="0" bIns="0">
            <a:spAutoFit/>
          </a:bodyPr>
          <a:lstStyle/>
          <a:p>
            <a:r>
              <a:rPr sz="1200" b="1">
                <a:solidFill>
                  <a:schemeClr val="tx2"/>
                </a:solidFill>
              </a:rPr>
              <a:t>T10 : </a:t>
            </a:r>
            <a:r>
              <a:rPr sz="1200">
                <a:solidFill>
                  <a:schemeClr val="accent4"/>
                </a:solidFill>
              </a:rPr>
              <a:t>backend arrêté, API toujours PUBLISHED : 500 / 101503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Installation reproductible sur une machine neuve</a:t>
            </a:r>
            <a:endParaRPr lang="en-US" sz="3200" dirty="0"/>
          </a:p>
        </p:txBody>
      </p:sp>
      <p:sp>
        <p:nvSpPr>
          <p:cNvPr id="4" name="pastille-214"/>
          <p:cNvSpPr/>
          <p:nvPr/>
        </p:nvSpPr>
        <p:spPr>
          <a:xfrm>
            <a:off x="548640" y="1618488"/>
            <a:ext cx="502920" cy="502920"/>
          </a:xfrm>
          <a:prstGeom prst="ellipse">
            <a:avLst/>
          </a:prstGeom>
          <a:solidFill>
            <a:schemeClr val="accent1"/>
          </a:solidFill>
          <a:ln w="12700">
            <a:solidFill>
              <a:schemeClr val="accent1"/>
            </a:solidFill>
            <a:prstDash val="solid"/>
          </a:ln>
        </p:spPr>
        <p:txBody>
          <a:bodyPr/>
          <a:lstStyle/>
          <a:p>
            <a:endParaRPr/>
          </a:p>
        </p:txBody>
      </p:sp>
      <p:sp>
        <p:nvSpPr>
          <p:cNvPr id="5" name="num-215"/>
          <p:cNvSpPr txBox="1"/>
          <p:nvPr/>
        </p:nvSpPr>
        <p:spPr>
          <a:xfrm>
            <a:off x="548640" y="16184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carte-216"/>
          <p:cNvSpPr/>
          <p:nvPr/>
        </p:nvSpPr>
        <p:spPr>
          <a:xfrm>
            <a:off x="1280160" y="1417320"/>
            <a:ext cx="10378440" cy="914400"/>
          </a:xfrm>
          <a:prstGeom prst="roundRect">
            <a:avLst>
              <a:gd name="adj" fmla="val 12000"/>
            </a:avLst>
          </a:prstGeom>
          <a:solidFill>
            <a:schemeClr val="bg2"/>
          </a:solidFill>
          <a:ln w="12700">
            <a:solidFill>
              <a:schemeClr val="bg2"/>
            </a:solidFill>
            <a:prstDash val="solid"/>
          </a:ln>
        </p:spPr>
        <p:txBody>
          <a:bodyPr/>
          <a:lstStyle/>
          <a:p>
            <a:endParaRPr/>
          </a:p>
        </p:txBody>
      </p:sp>
      <p:sp>
        <p:nvSpPr>
          <p:cNvPr id="7" name="texte-217"/>
          <p:cNvSpPr txBox="1"/>
          <p:nvPr/>
        </p:nvSpPr>
        <p:spPr>
          <a:xfrm>
            <a:off x="1554480" y="1417320"/>
            <a:ext cx="5669280" cy="914400"/>
          </a:xfrm>
          <a:prstGeom prst="rect">
            <a:avLst/>
          </a:prstGeom>
          <a:noFill/>
          <a:ln/>
        </p:spPr>
        <p:txBody>
          <a:bodyPr wrap="square" lIns="0" tIns="0" rIns="0" bIns="0" rtlCol="0" anchor="ctr"/>
          <a:lstStyle/>
          <a:p>
            <a:pPr marL="0" indent="0">
              <a:buNone/>
            </a:pPr>
            <a:r>
              <a:rPr lang="en-US" sz="1800" b="1" dirty="0">
                <a:solidFill>
                  <a:schemeClr val="tx2"/>
                </a:solidFill>
                <a:latin typeface="Courier New" pitchFamily="34" charset="0"/>
                <a:ea typeface="Courier New" pitchFamily="34" charset="-122"/>
                <a:cs typeface="Courier New" pitchFamily="34" charset="-120"/>
              </a:rPr>
              <a:t>git clone &lt;dépôt&gt;</a:t>
            </a:r>
            <a:endParaRPr lang="en-US" sz="1800" dirty="0"/>
          </a:p>
        </p:txBody>
      </p:sp>
      <p:sp>
        <p:nvSpPr>
          <p:cNvPr id="8" name="texte-218"/>
          <p:cNvSpPr txBox="1"/>
          <p:nvPr/>
        </p:nvSpPr>
        <p:spPr>
          <a:xfrm>
            <a:off x="7315200" y="1417320"/>
            <a:ext cx="4114800" cy="914400"/>
          </a:xfrm>
          <a:prstGeom prst="rect">
            <a:avLst/>
          </a:prstGeom>
          <a:noFill/>
          <a:ln/>
        </p:spPr>
        <p:txBody>
          <a:bodyPr wrap="square" lIns="0" tIns="0" rIns="0" bIns="0" rtlCol="0" anchor="ctr"/>
          <a:lstStyle/>
          <a:p>
            <a:pPr marL="0" indent="0">
              <a:buNone/>
            </a:pPr>
            <a:r>
              <a:rPr lang="en-US" sz="1200" b="1" dirty="0">
                <a:solidFill>
                  <a:schemeClr val="accent4"/>
                </a:solidFill>
              </a:rPr>
              <a:t>github.com/leilatirouda/projet-dev-composant_Groupe3</a:t>
            </a:r>
            <a:endParaRPr lang="en-US" sz="1400" dirty="0"/>
          </a:p>
          <a:p>
            <a:pPr marL="0" indent="0">
              <a:buNone/>
            </a:pPr>
            <a:r>
              <a:rPr lang="en-US" sz="1400" dirty="0">
                <a:solidFill>
                  <a:schemeClr val="accent4"/>
                </a:solidFill>
              </a:rPr>
              <a:t>Code, scripts SQL, contrats, tests</a:t>
            </a:r>
            <a:endParaRPr lang="en-US" sz="1400" dirty="0"/>
          </a:p>
        </p:txBody>
      </p:sp>
      <p:sp>
        <p:nvSpPr>
          <p:cNvPr id="9" name="pastille-219"/>
          <p:cNvSpPr/>
          <p:nvPr/>
        </p:nvSpPr>
        <p:spPr>
          <a:xfrm>
            <a:off x="548640" y="2761488"/>
            <a:ext cx="502920" cy="502920"/>
          </a:xfrm>
          <a:prstGeom prst="ellipse">
            <a:avLst/>
          </a:prstGeom>
          <a:solidFill>
            <a:schemeClr val="accent1"/>
          </a:solidFill>
          <a:ln w="12700">
            <a:solidFill>
              <a:schemeClr val="accent1"/>
            </a:solidFill>
            <a:prstDash val="solid"/>
          </a:ln>
        </p:spPr>
        <p:txBody>
          <a:bodyPr/>
          <a:lstStyle/>
          <a:p>
            <a:endParaRPr/>
          </a:p>
        </p:txBody>
      </p:sp>
      <p:sp>
        <p:nvSpPr>
          <p:cNvPr id="10" name="num-220"/>
          <p:cNvSpPr txBox="1"/>
          <p:nvPr/>
        </p:nvSpPr>
        <p:spPr>
          <a:xfrm>
            <a:off x="548640" y="27614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carte-221"/>
          <p:cNvSpPr/>
          <p:nvPr/>
        </p:nvSpPr>
        <p:spPr>
          <a:xfrm>
            <a:off x="1280160" y="2560320"/>
            <a:ext cx="10378440" cy="914400"/>
          </a:xfrm>
          <a:prstGeom prst="roundRect">
            <a:avLst>
              <a:gd name="adj" fmla="val 12000"/>
            </a:avLst>
          </a:prstGeom>
          <a:solidFill>
            <a:schemeClr val="bg2"/>
          </a:solidFill>
          <a:ln w="12700">
            <a:solidFill>
              <a:schemeClr val="bg2"/>
            </a:solidFill>
            <a:prstDash val="solid"/>
          </a:ln>
        </p:spPr>
        <p:txBody>
          <a:bodyPr/>
          <a:lstStyle/>
          <a:p>
            <a:endParaRPr/>
          </a:p>
        </p:txBody>
      </p:sp>
      <p:sp>
        <p:nvSpPr>
          <p:cNvPr id="12" name="texte-222"/>
          <p:cNvSpPr txBox="1"/>
          <p:nvPr/>
        </p:nvSpPr>
        <p:spPr>
          <a:xfrm>
            <a:off x="1554480" y="2560320"/>
            <a:ext cx="5669280" cy="914400"/>
          </a:xfrm>
          <a:prstGeom prst="rect">
            <a:avLst/>
          </a:prstGeom>
          <a:noFill/>
          <a:ln/>
        </p:spPr>
        <p:txBody>
          <a:bodyPr wrap="square" lIns="0" tIns="0" rIns="0" bIns="0" rtlCol="0" anchor="ctr"/>
          <a:lstStyle/>
          <a:p>
            <a:pPr marL="0" indent="0">
              <a:buNone/>
            </a:pPr>
            <a:r>
              <a:rPr lang="en-US" sz="1800" b="1" dirty="0">
                <a:solidFill>
                  <a:schemeClr val="tx2"/>
                </a:solidFill>
                <a:latin typeface="Courier New" pitchFamily="34" charset="0"/>
                <a:ea typeface="Courier New" pitchFamily="34" charset="-122"/>
                <a:cs typeface="Courier New" pitchFamily="34" charset="-120"/>
              </a:rPr>
              <a:t>docker compose up -d --build</a:t>
            </a:r>
            <a:endParaRPr lang="en-US" sz="1800" dirty="0"/>
          </a:p>
        </p:txBody>
      </p:sp>
      <p:sp>
        <p:nvSpPr>
          <p:cNvPr id="13" name="texte-223"/>
          <p:cNvSpPr txBox="1"/>
          <p:nvPr/>
        </p:nvSpPr>
        <p:spPr>
          <a:xfrm>
            <a:off x="7315200" y="2560320"/>
            <a:ext cx="4114800" cy="914400"/>
          </a:xfrm>
          <a:prstGeom prst="rect">
            <a:avLst/>
          </a:prstGeom>
          <a:noFill/>
          <a:ln/>
        </p:spPr>
        <p:txBody>
          <a:bodyPr wrap="square" lIns="0" tIns="0" rIns="0" bIns="0" rtlCol="0" anchor="ctr"/>
          <a:lstStyle/>
          <a:p>
            <a:pPr marL="0" indent="0">
              <a:buNone/>
            </a:pPr>
            <a:r>
              <a:rPr lang="en-US" sz="1400" dirty="0">
                <a:solidFill>
                  <a:schemeClr val="accent4"/>
                </a:solidFill>
              </a:rPr>
              <a:t>PostgreSQL, FastAPI et WSO2 4.6.0</a:t>
            </a:r>
            <a:endParaRPr lang="en-US" sz="1400" dirty="0"/>
          </a:p>
        </p:txBody>
      </p:sp>
      <p:sp>
        <p:nvSpPr>
          <p:cNvPr id="14" name="pastille-224"/>
          <p:cNvSpPr/>
          <p:nvPr/>
        </p:nvSpPr>
        <p:spPr>
          <a:xfrm>
            <a:off x="548640" y="3904488"/>
            <a:ext cx="502920" cy="502920"/>
          </a:xfrm>
          <a:prstGeom prst="ellipse">
            <a:avLst/>
          </a:prstGeom>
          <a:solidFill>
            <a:schemeClr val="accent1"/>
          </a:solidFill>
          <a:ln w="12700">
            <a:solidFill>
              <a:schemeClr val="accent1"/>
            </a:solidFill>
            <a:prstDash val="solid"/>
          </a:ln>
        </p:spPr>
        <p:txBody>
          <a:bodyPr/>
          <a:lstStyle/>
          <a:p>
            <a:endParaRPr/>
          </a:p>
        </p:txBody>
      </p:sp>
      <p:sp>
        <p:nvSpPr>
          <p:cNvPr id="15" name="num-225"/>
          <p:cNvSpPr txBox="1"/>
          <p:nvPr/>
        </p:nvSpPr>
        <p:spPr>
          <a:xfrm>
            <a:off x="548640" y="39044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carte-226"/>
          <p:cNvSpPr/>
          <p:nvPr/>
        </p:nvSpPr>
        <p:spPr>
          <a:xfrm>
            <a:off x="1280160" y="3703320"/>
            <a:ext cx="10378440" cy="914400"/>
          </a:xfrm>
          <a:prstGeom prst="roundRect">
            <a:avLst>
              <a:gd name="adj" fmla="val 12000"/>
            </a:avLst>
          </a:prstGeom>
          <a:solidFill>
            <a:schemeClr val="bg2"/>
          </a:solidFill>
          <a:ln w="12700">
            <a:solidFill>
              <a:schemeClr val="bg2"/>
            </a:solidFill>
            <a:prstDash val="solid"/>
          </a:ln>
        </p:spPr>
        <p:txBody>
          <a:bodyPr/>
          <a:lstStyle/>
          <a:p>
            <a:endParaRPr/>
          </a:p>
        </p:txBody>
      </p:sp>
      <p:sp>
        <p:nvSpPr>
          <p:cNvPr id="17" name="texte-227"/>
          <p:cNvSpPr txBox="1"/>
          <p:nvPr/>
        </p:nvSpPr>
        <p:spPr>
          <a:xfrm>
            <a:off x="1554480" y="3703320"/>
            <a:ext cx="5669280" cy="914400"/>
          </a:xfrm>
          <a:prstGeom prst="rect">
            <a:avLst/>
          </a:prstGeom>
          <a:noFill/>
          <a:ln/>
        </p:spPr>
        <p:txBody>
          <a:bodyPr wrap="square" lIns="0" tIns="0" rIns="0" bIns="0" rtlCol="0" anchor="ctr"/>
          <a:lstStyle/>
          <a:p>
            <a:pPr marL="0" indent="0">
              <a:buNone/>
            </a:pPr>
            <a:r>
              <a:rPr lang="en-US" sz="1800" b="1" dirty="0">
                <a:solidFill>
                  <a:schemeClr val="tx2"/>
                </a:solidFill>
                <a:latin typeface="Courier New" pitchFamily="34" charset="0"/>
                <a:ea typeface="Courier New" pitchFamily="34" charset="-122"/>
                <a:cs typeface="Courier New" pitchFamily="34" charset="-120"/>
              </a:rPr>
              <a:t>python wso2/wso2ctl.py setup</a:t>
            </a:r>
            <a:endParaRPr lang="en-US" sz="1800" dirty="0"/>
          </a:p>
        </p:txBody>
      </p:sp>
      <p:sp>
        <p:nvSpPr>
          <p:cNvPr id="18" name="texte-228"/>
          <p:cNvSpPr txBox="1"/>
          <p:nvPr/>
        </p:nvSpPr>
        <p:spPr>
          <a:xfrm>
            <a:off x="7315200" y="3703320"/>
            <a:ext cx="4114800" cy="914400"/>
          </a:xfrm>
          <a:prstGeom prst="rect">
            <a:avLst/>
          </a:prstGeom>
          <a:noFill/>
          <a:ln/>
        </p:spPr>
        <p:txBody>
          <a:bodyPr wrap="square" lIns="0" tIns="0" rIns="0" bIns="0" rtlCol="0" anchor="ctr"/>
          <a:lstStyle/>
          <a:p>
            <a:pPr marL="0" indent="0">
              <a:buNone/>
            </a:pPr>
            <a:r>
              <a:rPr lang="en-US" sz="1400" dirty="0">
                <a:solidFill>
                  <a:schemeClr val="accent4"/>
                </a:solidFill>
              </a:rPr>
              <a:t>Plan, API, publication, applications</a:t>
            </a:r>
            <a:endParaRPr lang="en-US" sz="1400" dirty="0"/>
          </a:p>
        </p:txBody>
      </p:sp>
      <p:sp>
        <p:nvSpPr>
          <p:cNvPr id="19" name="pastille-229"/>
          <p:cNvSpPr/>
          <p:nvPr/>
        </p:nvSpPr>
        <p:spPr>
          <a:xfrm>
            <a:off x="548640" y="5047488"/>
            <a:ext cx="502920" cy="502920"/>
          </a:xfrm>
          <a:prstGeom prst="ellipse">
            <a:avLst/>
          </a:prstGeom>
          <a:solidFill>
            <a:schemeClr val="accent1"/>
          </a:solidFill>
          <a:ln w="12700">
            <a:solidFill>
              <a:schemeClr val="accent1"/>
            </a:solidFill>
            <a:prstDash val="solid"/>
          </a:ln>
        </p:spPr>
        <p:txBody>
          <a:bodyPr/>
          <a:lstStyle/>
          <a:p>
            <a:endParaRPr/>
          </a:p>
        </p:txBody>
      </p:sp>
      <p:sp>
        <p:nvSpPr>
          <p:cNvPr id="20" name="num-230"/>
          <p:cNvSpPr txBox="1"/>
          <p:nvPr/>
        </p:nvSpPr>
        <p:spPr>
          <a:xfrm>
            <a:off x="548640" y="50474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carte-231"/>
          <p:cNvSpPr/>
          <p:nvPr/>
        </p:nvSpPr>
        <p:spPr>
          <a:xfrm>
            <a:off x="1280160" y="4846320"/>
            <a:ext cx="10378440" cy="914400"/>
          </a:xfrm>
          <a:prstGeom prst="roundRect">
            <a:avLst>
              <a:gd name="adj" fmla="val 12000"/>
            </a:avLst>
          </a:prstGeom>
          <a:solidFill>
            <a:schemeClr val="bg2"/>
          </a:solidFill>
          <a:ln w="12700">
            <a:solidFill>
              <a:schemeClr val="bg2"/>
            </a:solidFill>
            <a:prstDash val="solid"/>
          </a:ln>
        </p:spPr>
        <p:txBody>
          <a:bodyPr/>
          <a:lstStyle/>
          <a:p>
            <a:endParaRPr/>
          </a:p>
        </p:txBody>
      </p:sp>
      <p:sp>
        <p:nvSpPr>
          <p:cNvPr id="22" name="texte-232"/>
          <p:cNvSpPr txBox="1"/>
          <p:nvPr/>
        </p:nvSpPr>
        <p:spPr>
          <a:xfrm>
            <a:off x="1554480" y="4846320"/>
            <a:ext cx="5669280" cy="914400"/>
          </a:xfrm>
          <a:prstGeom prst="rect">
            <a:avLst/>
          </a:prstGeom>
          <a:noFill/>
          <a:ln/>
        </p:spPr>
        <p:txBody>
          <a:bodyPr wrap="square" lIns="0" tIns="0" rIns="0" bIns="0" rtlCol="0" anchor="ctr"/>
          <a:lstStyle/>
          <a:p>
            <a:pPr marL="0" indent="0">
              <a:buNone/>
            </a:pPr>
            <a:r>
              <a:rPr lang="en-US" sz="1800" b="1" dirty="0">
                <a:solidFill>
                  <a:schemeClr val="tx2"/>
                </a:solidFill>
                <a:latin typeface="Courier New" pitchFamily="34" charset="0"/>
                <a:ea typeface="Courier New" pitchFamily="34" charset="-122"/>
                <a:cs typeface="Courier New" pitchFamily="34" charset="-120"/>
              </a:rPr>
              <a:t>python tests/e2e.py</a:t>
            </a:r>
            <a:endParaRPr lang="en-US" sz="1800" dirty="0"/>
          </a:p>
        </p:txBody>
      </p:sp>
      <p:sp>
        <p:nvSpPr>
          <p:cNvPr id="23" name="texte-233"/>
          <p:cNvSpPr txBox="1"/>
          <p:nvPr/>
        </p:nvSpPr>
        <p:spPr>
          <a:xfrm>
            <a:off x="7315200" y="4846320"/>
            <a:ext cx="4114800" cy="914400"/>
          </a:xfrm>
          <a:prstGeom prst="rect">
            <a:avLst/>
          </a:prstGeom>
          <a:noFill/>
          <a:ln/>
        </p:spPr>
        <p:txBody>
          <a:bodyPr wrap="square" lIns="0" tIns="0" rIns="0" bIns="0" rtlCol="0" anchor="ctr"/>
          <a:lstStyle/>
          <a:p>
            <a:pPr marL="0" indent="0">
              <a:buNone/>
            </a:pPr>
            <a:r>
              <a:rPr lang="en-US" sz="1400" dirty="0">
                <a:solidFill>
                  <a:schemeClr val="accent4"/>
                </a:solidFill>
              </a:rPr>
              <a:t>16 / 16 scénarios réussis sur une installation neuve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buNone/>
            </a:pPr>
            <a:r>
              <a:rPr lang="en-US" sz="3200" b="1" dirty="0">
                <a:solidFill>
                  <a:schemeClr val="tx2"/>
                </a:solidFill>
              </a:rPr>
              <a:t>Cinq rôles, un dépôt partagé</a:t>
            </a:r>
            <a:endParaRPr lang="en-US" sz="3200" dirty="0"/>
          </a:p>
        </p:txBody>
      </p:sp>
      <p:sp>
        <p:nvSpPr>
          <p:cNvPr id="4" name="carte-234"/>
          <p:cNvSpPr/>
          <p:nvPr/>
        </p:nvSpPr>
        <p:spPr>
          <a:xfrm>
            <a:off x="548640" y="1463040"/>
            <a:ext cx="2057400" cy="3657600"/>
          </a:xfrm>
          <a:prstGeom prst="roundRect">
            <a:avLst>
              <a:gd name="adj" fmla="val 5333"/>
            </a:avLst>
          </a:prstGeom>
          <a:solidFill>
            <a:schemeClr val="bg2"/>
          </a:solidFill>
          <a:ln w="12700">
            <a:solidFill>
              <a:schemeClr val="bg2"/>
            </a:solidFill>
            <a:prstDash val="solid"/>
          </a:ln>
        </p:spPr>
      </p:sp>
      <p:sp>
        <p:nvSpPr>
          <p:cNvPr id="5" name="avatar-235"/>
          <p:cNvSpPr/>
          <p:nvPr/>
        </p:nvSpPr>
        <p:spPr>
          <a:xfrm>
            <a:off x="1051560" y="1783080"/>
            <a:ext cx="1051560" cy="1051560"/>
          </a:xfrm>
          <a:prstGeom prst="ellipse">
            <a:avLst/>
          </a:prstGeom>
          <a:solidFill>
            <a:schemeClr val="accent1"/>
          </a:solidFill>
          <a:ln w="12700">
            <a:solidFill>
              <a:schemeClr val="accent1"/>
            </a:solidFill>
            <a:prstDash val="solid"/>
          </a:ln>
        </p:spPr>
      </p:sp>
      <p:sp>
        <p:nvSpPr>
          <p:cNvPr id="6" name="texte-236"/>
          <p:cNvSpPr txBox="1"/>
          <p:nvPr/>
        </p:nvSpPr>
        <p:spPr>
          <a:xfrm>
            <a:off x="1051560" y="1783080"/>
            <a:ext cx="1051560" cy="1051560"/>
          </a:xfrm>
          <a:prstGeom prst="rect">
            <a:avLst/>
          </a:prstGeom>
          <a:noFill/>
          <a:ln/>
        </p:spPr>
        <p:txBody>
          <a:bodyPr wrap="square" lIns="0" tIns="0" rIns="0" bIns="0" rtlCol="0" anchor="ctr"/>
          <a:lstStyle/>
          <a:p>
            <a:pPr marL="0" indent="0" algn="ctr">
              <a:buNone/>
            </a:pPr>
            <a:r>
              <a:rPr lang="en-US" sz="2400" b="1" dirty="0">
                <a:solidFill>
                  <a:schemeClr val="bg1"/>
                </a:solidFill>
              </a:rPr>
              <a:t>M1</a:t>
            </a:r>
            <a:endParaRPr lang="en-US" sz="2400" dirty="0"/>
          </a:p>
        </p:txBody>
      </p:sp>
      <p:sp>
        <p:nvSpPr>
          <p:cNvPr id="7" name="texte-237"/>
          <p:cNvSpPr txBox="1"/>
          <p:nvPr/>
        </p:nvSpPr>
        <p:spPr>
          <a:xfrm>
            <a:off x="731520" y="3063240"/>
            <a:ext cx="1691640" cy="658368"/>
          </a:xfrm>
          <a:prstGeom prst="rect">
            <a:avLst/>
          </a:prstGeom>
          <a:noFill/>
          <a:ln/>
        </p:spPr>
        <p:txBody>
          <a:bodyPr wrap="square" lIns="0" tIns="0" rIns="0" bIns="0" rtlCol="0" anchor="t"/>
          <a:lstStyle/>
          <a:p>
            <a:pPr marL="0" indent="0" algn="ctr">
              <a:buNone/>
            </a:pPr>
            <a:r>
              <a:rPr lang="en-US" sz="1700" b="1" dirty="0">
                <a:solidFill>
                  <a:schemeClr val="tx2"/>
                </a:solidFill>
              </a:rPr>
              <a:t>LOMPO</a:t>
            </a:r>
            <a:endParaRPr lang="en-US" sz="1700" dirty="0"/>
          </a:p>
          <a:p>
            <a:pPr marL="0" indent="0" algn="ctr">
              <a:buNone/>
            </a:pPr>
            <a:r>
              <a:rPr lang="en-US" sz="1500" b="1" dirty="0">
                <a:solidFill>
                  <a:schemeClr val="tx2"/>
                </a:solidFill>
              </a:rPr>
              <a:t>Ephraim</a:t>
            </a:r>
            <a:endParaRPr lang="en-US" sz="1700" dirty="0"/>
          </a:p>
        </p:txBody>
      </p:sp>
      <p:sp>
        <p:nvSpPr>
          <p:cNvPr id="8" name="texte-238"/>
          <p:cNvSpPr txBox="1"/>
          <p:nvPr/>
        </p:nvSpPr>
        <p:spPr>
          <a:xfrm>
            <a:off x="731520" y="3794760"/>
            <a:ext cx="1691640" cy="365760"/>
          </a:xfrm>
          <a:prstGeom prst="rect">
            <a:avLst/>
          </a:prstGeom>
          <a:noFill/>
          <a:ln/>
        </p:spPr>
        <p:txBody>
          <a:bodyPr wrap="square" lIns="0" tIns="0" rIns="0" bIns="0" rtlCol="0" anchor="t"/>
          <a:lstStyle/>
          <a:p>
            <a:pPr marL="0" indent="0" algn="ctr">
              <a:buNone/>
            </a:pPr>
            <a:r>
              <a:rPr lang="en-US" sz="1400" b="1" dirty="0">
                <a:solidFill>
                  <a:schemeClr val="accent1"/>
                </a:solidFill>
              </a:rPr>
              <a:t>Chef de projet</a:t>
            </a:r>
            <a:endParaRPr lang="en-US" sz="1400" dirty="0"/>
          </a:p>
        </p:txBody>
      </p:sp>
      <p:sp>
        <p:nvSpPr>
          <p:cNvPr id="9" name="texte-239"/>
          <p:cNvSpPr txBox="1"/>
          <p:nvPr/>
        </p:nvSpPr>
        <p:spPr>
          <a:xfrm>
            <a:off x="731520" y="4224528"/>
            <a:ext cx="1691640" cy="1463040"/>
          </a:xfrm>
          <a:prstGeom prst="rect">
            <a:avLst/>
          </a:prstGeom>
          <a:noFill/>
          <a:ln/>
        </p:spPr>
        <p:txBody>
          <a:bodyPr wrap="square" lIns="0" tIns="0" rIns="0" bIns="0" rtlCol="0" anchor="t"/>
          <a:lstStyle/>
          <a:p>
            <a:pPr marL="0" indent="0" algn="ctr">
              <a:buNone/>
            </a:pPr>
            <a:r>
              <a:rPr lang="en-US" sz="1400" dirty="0">
                <a:solidFill>
                  <a:schemeClr val="tx1"/>
                </a:solidFill>
              </a:rPr>
              <a:t>Intégration, Docker Compose, README, présentation</a:t>
            </a:r>
            <a:endParaRPr lang="en-US" sz="1400" dirty="0"/>
          </a:p>
        </p:txBody>
      </p:sp>
      <p:sp>
        <p:nvSpPr>
          <p:cNvPr id="10" name="carte-240"/>
          <p:cNvSpPr/>
          <p:nvPr/>
        </p:nvSpPr>
        <p:spPr>
          <a:xfrm>
            <a:off x="2816352" y="1463040"/>
            <a:ext cx="2057400" cy="3657600"/>
          </a:xfrm>
          <a:prstGeom prst="roundRect">
            <a:avLst>
              <a:gd name="adj" fmla="val 5333"/>
            </a:avLst>
          </a:prstGeom>
          <a:solidFill>
            <a:schemeClr val="bg2"/>
          </a:solidFill>
          <a:ln w="12700">
            <a:solidFill>
              <a:schemeClr val="bg2"/>
            </a:solidFill>
            <a:prstDash val="solid"/>
          </a:ln>
        </p:spPr>
      </p:sp>
      <p:sp>
        <p:nvSpPr>
          <p:cNvPr id="11" name="avatar-241"/>
          <p:cNvSpPr/>
          <p:nvPr/>
        </p:nvSpPr>
        <p:spPr>
          <a:xfrm>
            <a:off x="3319272" y="1783080"/>
            <a:ext cx="1051560" cy="1051560"/>
          </a:xfrm>
          <a:prstGeom prst="ellipse">
            <a:avLst/>
          </a:prstGeom>
          <a:solidFill>
            <a:schemeClr val="accent1"/>
          </a:solidFill>
          <a:ln w="12700">
            <a:solidFill>
              <a:schemeClr val="accent1"/>
            </a:solidFill>
            <a:prstDash val="solid"/>
          </a:ln>
        </p:spPr>
      </p:sp>
      <p:sp>
        <p:nvSpPr>
          <p:cNvPr id="12" name="texte-242"/>
          <p:cNvSpPr txBox="1"/>
          <p:nvPr/>
        </p:nvSpPr>
        <p:spPr>
          <a:xfrm>
            <a:off x="3319272" y="1783080"/>
            <a:ext cx="1051560" cy="1051560"/>
          </a:xfrm>
          <a:prstGeom prst="rect">
            <a:avLst/>
          </a:prstGeom>
          <a:noFill/>
          <a:ln/>
        </p:spPr>
        <p:txBody>
          <a:bodyPr wrap="square" lIns="0" tIns="0" rIns="0" bIns="0" rtlCol="0" anchor="ctr"/>
          <a:lstStyle/>
          <a:p>
            <a:pPr marL="0" indent="0" algn="ctr">
              <a:buNone/>
            </a:pPr>
            <a:r>
              <a:rPr lang="en-US" sz="2400" b="1" dirty="0">
                <a:solidFill>
                  <a:schemeClr val="bg1"/>
                </a:solidFill>
              </a:rPr>
              <a:t>M2</a:t>
            </a:r>
            <a:endParaRPr lang="en-US" sz="2400" dirty="0"/>
          </a:p>
        </p:txBody>
      </p:sp>
      <p:sp>
        <p:nvSpPr>
          <p:cNvPr id="13" name="texte-243"/>
          <p:cNvSpPr txBox="1"/>
          <p:nvPr/>
        </p:nvSpPr>
        <p:spPr>
          <a:xfrm>
            <a:off x="2999232" y="3063240"/>
            <a:ext cx="1691640" cy="658368"/>
          </a:xfrm>
          <a:prstGeom prst="rect">
            <a:avLst/>
          </a:prstGeom>
          <a:noFill/>
          <a:ln/>
        </p:spPr>
        <p:txBody>
          <a:bodyPr wrap="square" lIns="0" tIns="0" rIns="0" bIns="0" rtlCol="0" anchor="t"/>
          <a:lstStyle/>
          <a:p>
            <a:pPr marL="0" indent="0" algn="ctr">
              <a:buNone/>
            </a:pPr>
            <a:r>
              <a:rPr lang="en-US" sz="1700" b="1" dirty="0">
                <a:solidFill>
                  <a:schemeClr val="tx2"/>
                </a:solidFill>
              </a:rPr>
              <a:t>OUOBA</a:t>
            </a:r>
            <a:endParaRPr lang="en-US" sz="1700" dirty="0"/>
          </a:p>
          <a:p>
            <a:pPr marL="0" indent="0" algn="ctr">
              <a:buNone/>
            </a:pPr>
            <a:r>
              <a:rPr lang="en-US" sz="1500" b="1" dirty="0">
                <a:solidFill>
                  <a:schemeClr val="tx2"/>
                </a:solidFill>
              </a:rPr>
              <a:t>Arnaud</a:t>
            </a:r>
            <a:endParaRPr lang="en-US" sz="1700" dirty="0"/>
          </a:p>
        </p:txBody>
      </p:sp>
      <p:sp>
        <p:nvSpPr>
          <p:cNvPr id="14" name="texte-244"/>
          <p:cNvSpPr txBox="1"/>
          <p:nvPr/>
        </p:nvSpPr>
        <p:spPr>
          <a:xfrm>
            <a:off x="2999232" y="3794760"/>
            <a:ext cx="1691640" cy="365760"/>
          </a:xfrm>
          <a:prstGeom prst="rect">
            <a:avLst/>
          </a:prstGeom>
          <a:noFill/>
          <a:ln/>
        </p:spPr>
        <p:txBody>
          <a:bodyPr wrap="square" lIns="0" tIns="0" rIns="0" bIns="0" rtlCol="0" anchor="t"/>
          <a:lstStyle/>
          <a:p>
            <a:pPr marL="0" indent="0" algn="ctr">
              <a:buNone/>
            </a:pPr>
            <a:r>
              <a:rPr lang="en-US" sz="1400" b="1" dirty="0">
                <a:solidFill>
                  <a:schemeClr val="accent1"/>
                </a:solidFill>
              </a:rPr>
              <a:t>Backend</a:t>
            </a:r>
            <a:endParaRPr lang="en-US" sz="1400" dirty="0"/>
          </a:p>
        </p:txBody>
      </p:sp>
      <p:sp>
        <p:nvSpPr>
          <p:cNvPr id="15" name="texte-245"/>
          <p:cNvSpPr txBox="1"/>
          <p:nvPr/>
        </p:nvSpPr>
        <p:spPr>
          <a:xfrm>
            <a:off x="2999232" y="4224528"/>
            <a:ext cx="1691640" cy="1463040"/>
          </a:xfrm>
          <a:prstGeom prst="rect">
            <a:avLst/>
          </a:prstGeom>
          <a:noFill/>
          <a:ln/>
        </p:spPr>
        <p:txBody>
          <a:bodyPr wrap="square" lIns="0" tIns="0" rIns="0" bIns="0" rtlCol="0" anchor="t"/>
          <a:lstStyle/>
          <a:p>
            <a:pPr marL="0" indent="0" algn="ctr">
              <a:buNone/>
            </a:pPr>
            <a:r>
              <a:rPr lang="en-US" sz="1400" dirty="0">
                <a:solidFill>
                  <a:schemeClr val="tx1"/>
                </a:solidFill>
              </a:rPr>
              <a:t>API FastAPI v1 et v2, tests pytest</a:t>
            </a:r>
            <a:endParaRPr lang="en-US" sz="1400" dirty="0"/>
          </a:p>
        </p:txBody>
      </p:sp>
      <p:sp>
        <p:nvSpPr>
          <p:cNvPr id="16" name="carte-246"/>
          <p:cNvSpPr/>
          <p:nvPr/>
        </p:nvSpPr>
        <p:spPr>
          <a:xfrm>
            <a:off x="5084064" y="1463040"/>
            <a:ext cx="2057400" cy="3657600"/>
          </a:xfrm>
          <a:prstGeom prst="roundRect">
            <a:avLst>
              <a:gd name="adj" fmla="val 5333"/>
            </a:avLst>
          </a:prstGeom>
          <a:solidFill>
            <a:schemeClr val="bg2"/>
          </a:solidFill>
          <a:ln w="12700">
            <a:solidFill>
              <a:schemeClr val="bg2"/>
            </a:solidFill>
            <a:prstDash val="solid"/>
          </a:ln>
        </p:spPr>
      </p:sp>
      <p:sp>
        <p:nvSpPr>
          <p:cNvPr id="17" name="avatar-247"/>
          <p:cNvSpPr/>
          <p:nvPr/>
        </p:nvSpPr>
        <p:spPr>
          <a:xfrm>
            <a:off x="5586984" y="1783080"/>
            <a:ext cx="1051560" cy="1051560"/>
          </a:xfrm>
          <a:prstGeom prst="ellipse">
            <a:avLst/>
          </a:prstGeom>
          <a:solidFill>
            <a:schemeClr val="accent1"/>
          </a:solidFill>
          <a:ln w="12700">
            <a:solidFill>
              <a:schemeClr val="accent1"/>
            </a:solidFill>
            <a:prstDash val="solid"/>
          </a:ln>
        </p:spPr>
      </p:sp>
      <p:sp>
        <p:nvSpPr>
          <p:cNvPr id="18" name="texte-248"/>
          <p:cNvSpPr txBox="1"/>
          <p:nvPr/>
        </p:nvSpPr>
        <p:spPr>
          <a:xfrm>
            <a:off x="5586984" y="1783080"/>
            <a:ext cx="1051560" cy="1051560"/>
          </a:xfrm>
          <a:prstGeom prst="rect">
            <a:avLst/>
          </a:prstGeom>
          <a:noFill/>
          <a:ln/>
        </p:spPr>
        <p:txBody>
          <a:bodyPr wrap="square" lIns="0" tIns="0" rIns="0" bIns="0" rtlCol="0" anchor="ctr"/>
          <a:lstStyle/>
          <a:p>
            <a:pPr marL="0" indent="0" algn="ctr">
              <a:buNone/>
            </a:pPr>
            <a:r>
              <a:rPr lang="en-US" sz="2400" b="1" dirty="0">
                <a:solidFill>
                  <a:schemeClr val="bg1"/>
                </a:solidFill>
              </a:rPr>
              <a:t>M3</a:t>
            </a:r>
            <a:endParaRPr lang="en-US" sz="2400" dirty="0"/>
          </a:p>
        </p:txBody>
      </p:sp>
      <p:sp>
        <p:nvSpPr>
          <p:cNvPr id="19" name="texte-249"/>
          <p:cNvSpPr txBox="1"/>
          <p:nvPr/>
        </p:nvSpPr>
        <p:spPr>
          <a:xfrm>
            <a:off x="5266944" y="3063240"/>
            <a:ext cx="1691640" cy="658368"/>
          </a:xfrm>
          <a:prstGeom prst="rect">
            <a:avLst/>
          </a:prstGeom>
          <a:noFill/>
          <a:ln/>
        </p:spPr>
        <p:txBody>
          <a:bodyPr wrap="square" lIns="0" tIns="0" rIns="0" bIns="0" rtlCol="0" anchor="t"/>
          <a:lstStyle/>
          <a:p>
            <a:pPr marL="0" indent="0" algn="ctr">
              <a:buNone/>
            </a:pPr>
            <a:r>
              <a:rPr lang="en-US" sz="1700" b="1" dirty="0">
                <a:solidFill>
                  <a:schemeClr val="tx2"/>
                </a:solidFill>
              </a:rPr>
              <a:t>NIKIEMA</a:t>
            </a:r>
            <a:endParaRPr lang="en-US" sz="1700" dirty="0"/>
          </a:p>
          <a:p>
            <a:pPr marL="0" indent="0" algn="ctr">
              <a:buNone/>
            </a:pPr>
            <a:r>
              <a:rPr lang="en-US" sz="1500" b="1" dirty="0">
                <a:solidFill>
                  <a:schemeClr val="tx2"/>
                </a:solidFill>
              </a:rPr>
              <a:t>Abdoul Fatahou</a:t>
            </a:r>
            <a:endParaRPr lang="en-US" sz="1700" dirty="0"/>
          </a:p>
        </p:txBody>
      </p:sp>
      <p:sp>
        <p:nvSpPr>
          <p:cNvPr id="20" name="texte-250"/>
          <p:cNvSpPr txBox="1"/>
          <p:nvPr/>
        </p:nvSpPr>
        <p:spPr>
          <a:xfrm>
            <a:off x="5266944" y="3794760"/>
            <a:ext cx="1691640" cy="365760"/>
          </a:xfrm>
          <a:prstGeom prst="rect">
            <a:avLst/>
          </a:prstGeom>
          <a:noFill/>
          <a:ln/>
        </p:spPr>
        <p:txBody>
          <a:bodyPr wrap="square" lIns="0" tIns="0" rIns="0" bIns="0" rtlCol="0" anchor="t"/>
          <a:lstStyle/>
          <a:p>
            <a:pPr marL="0" indent="0" algn="ctr">
              <a:buNone/>
            </a:pPr>
            <a:r>
              <a:rPr lang="en-US" sz="1400" b="1" dirty="0">
                <a:solidFill>
                  <a:schemeClr val="accent1"/>
                </a:solidFill>
              </a:rPr>
              <a:t>Données et contrat</a:t>
            </a:r>
            <a:endParaRPr lang="en-US" sz="1400" dirty="0"/>
          </a:p>
        </p:txBody>
      </p:sp>
      <p:sp>
        <p:nvSpPr>
          <p:cNvPr id="21" name="texte-251"/>
          <p:cNvSpPr txBox="1"/>
          <p:nvPr/>
        </p:nvSpPr>
        <p:spPr>
          <a:xfrm>
            <a:off x="5266944" y="4224528"/>
            <a:ext cx="1691640" cy="1463040"/>
          </a:xfrm>
          <a:prstGeom prst="rect">
            <a:avLst/>
          </a:prstGeom>
          <a:noFill/>
          <a:ln/>
        </p:spPr>
        <p:txBody>
          <a:bodyPr wrap="square" lIns="0" tIns="0" rIns="0" bIns="0" rtlCol="0" anchor="t"/>
          <a:lstStyle/>
          <a:p>
            <a:pPr marL="0" indent="0" algn="ctr">
              <a:buNone/>
            </a:pPr>
            <a:r>
              <a:rPr lang="en-US" sz="1400" dirty="0">
                <a:solidFill>
                  <a:schemeClr val="tx1"/>
                </a:solidFill>
              </a:rPr>
              <a:t>PostgreSQL, données fictives, OpenAPI</a:t>
            </a:r>
            <a:endParaRPr lang="en-US" sz="1400" dirty="0"/>
          </a:p>
        </p:txBody>
      </p:sp>
      <p:sp>
        <p:nvSpPr>
          <p:cNvPr id="22" name="carte-252"/>
          <p:cNvSpPr/>
          <p:nvPr/>
        </p:nvSpPr>
        <p:spPr>
          <a:xfrm>
            <a:off x="7351776" y="1463040"/>
            <a:ext cx="2057400" cy="3657600"/>
          </a:xfrm>
          <a:prstGeom prst="roundRect">
            <a:avLst>
              <a:gd name="adj" fmla="val 5333"/>
            </a:avLst>
          </a:prstGeom>
          <a:solidFill>
            <a:schemeClr val="bg2"/>
          </a:solidFill>
          <a:ln w="12700">
            <a:solidFill>
              <a:schemeClr val="bg2"/>
            </a:solidFill>
            <a:prstDash val="solid"/>
          </a:ln>
        </p:spPr>
      </p:sp>
      <p:sp>
        <p:nvSpPr>
          <p:cNvPr id="23" name="avatar-253"/>
          <p:cNvSpPr/>
          <p:nvPr/>
        </p:nvSpPr>
        <p:spPr>
          <a:xfrm>
            <a:off x="7854696" y="1783080"/>
            <a:ext cx="1051560" cy="1051560"/>
          </a:xfrm>
          <a:prstGeom prst="ellipse">
            <a:avLst/>
          </a:prstGeom>
          <a:solidFill>
            <a:schemeClr val="accent1"/>
          </a:solidFill>
          <a:ln w="12700">
            <a:solidFill>
              <a:schemeClr val="accent1"/>
            </a:solidFill>
            <a:prstDash val="solid"/>
          </a:ln>
        </p:spPr>
      </p:sp>
      <p:sp>
        <p:nvSpPr>
          <p:cNvPr id="24" name="texte-254"/>
          <p:cNvSpPr txBox="1"/>
          <p:nvPr/>
        </p:nvSpPr>
        <p:spPr>
          <a:xfrm>
            <a:off x="7854696" y="1783080"/>
            <a:ext cx="1051560" cy="1051560"/>
          </a:xfrm>
          <a:prstGeom prst="rect">
            <a:avLst/>
          </a:prstGeom>
          <a:noFill/>
          <a:ln/>
        </p:spPr>
        <p:txBody>
          <a:bodyPr wrap="square" lIns="0" tIns="0" rIns="0" bIns="0" rtlCol="0" anchor="ctr"/>
          <a:lstStyle/>
          <a:p>
            <a:pPr marL="0" indent="0" algn="ctr">
              <a:buNone/>
            </a:pPr>
            <a:r>
              <a:rPr lang="en-US" sz="2400" b="1" dirty="0">
                <a:solidFill>
                  <a:schemeClr val="bg1"/>
                </a:solidFill>
              </a:rPr>
              <a:t>M4</a:t>
            </a:r>
            <a:endParaRPr lang="en-US" sz="2400" dirty="0"/>
          </a:p>
        </p:txBody>
      </p:sp>
      <p:sp>
        <p:nvSpPr>
          <p:cNvPr id="25" name="texte-255"/>
          <p:cNvSpPr txBox="1"/>
          <p:nvPr/>
        </p:nvSpPr>
        <p:spPr>
          <a:xfrm>
            <a:off x="7534656" y="3063240"/>
            <a:ext cx="1691640" cy="658368"/>
          </a:xfrm>
          <a:prstGeom prst="rect">
            <a:avLst/>
          </a:prstGeom>
          <a:noFill/>
          <a:ln/>
        </p:spPr>
        <p:txBody>
          <a:bodyPr wrap="square" lIns="0" tIns="0" rIns="0" bIns="0" rtlCol="0" anchor="t"/>
          <a:lstStyle/>
          <a:p>
            <a:pPr marL="0" indent="0" algn="ctr">
              <a:buNone/>
            </a:pPr>
            <a:r>
              <a:rPr lang="en-US" sz="1700" b="1" dirty="0">
                <a:solidFill>
                  <a:schemeClr val="tx2"/>
                </a:solidFill>
              </a:rPr>
              <a:t>TIROUDA</a:t>
            </a:r>
            <a:endParaRPr lang="en-US" sz="1700" dirty="0"/>
          </a:p>
          <a:p>
            <a:pPr marL="0" indent="0" algn="ctr">
              <a:buNone/>
            </a:pPr>
            <a:r>
              <a:rPr lang="en-US" sz="1500" b="1" dirty="0">
                <a:solidFill>
                  <a:schemeClr val="tx2"/>
                </a:solidFill>
              </a:rPr>
              <a:t>Leila</a:t>
            </a:r>
            <a:endParaRPr lang="en-US" sz="1700" dirty="0"/>
          </a:p>
        </p:txBody>
      </p:sp>
      <p:sp>
        <p:nvSpPr>
          <p:cNvPr id="26" name="texte-256"/>
          <p:cNvSpPr txBox="1"/>
          <p:nvPr/>
        </p:nvSpPr>
        <p:spPr>
          <a:xfrm>
            <a:off x="7534656" y="3794760"/>
            <a:ext cx="1691640" cy="365760"/>
          </a:xfrm>
          <a:prstGeom prst="rect">
            <a:avLst/>
          </a:prstGeom>
          <a:noFill/>
          <a:ln/>
        </p:spPr>
        <p:txBody>
          <a:bodyPr wrap="square" lIns="0" tIns="0" rIns="0" bIns="0" rtlCol="0" anchor="t"/>
          <a:lstStyle/>
          <a:p>
            <a:pPr marL="0" indent="0" algn="ctr">
              <a:buNone/>
            </a:pPr>
            <a:r>
              <a:rPr lang="en-US" sz="1400" b="1" dirty="0">
                <a:solidFill>
                  <a:schemeClr val="accent1"/>
                </a:solidFill>
              </a:rPr>
              <a:t>WSO2 cycle de vie</a:t>
            </a:r>
            <a:endParaRPr lang="en-US" sz="1400" dirty="0"/>
          </a:p>
        </p:txBody>
      </p:sp>
      <p:sp>
        <p:nvSpPr>
          <p:cNvPr id="27" name="texte-257"/>
          <p:cNvSpPr txBox="1"/>
          <p:nvPr/>
        </p:nvSpPr>
        <p:spPr>
          <a:xfrm>
            <a:off x="7534656" y="4224528"/>
            <a:ext cx="1691640" cy="1463040"/>
          </a:xfrm>
          <a:prstGeom prst="rect">
            <a:avLst/>
          </a:prstGeom>
          <a:noFill/>
          <a:ln/>
        </p:spPr>
        <p:txBody>
          <a:bodyPr wrap="square" lIns="0" tIns="0" rIns="0" bIns="0" rtlCol="0" anchor="t"/>
          <a:lstStyle/>
          <a:p>
            <a:pPr marL="0" indent="0" algn="ctr">
              <a:buNone/>
            </a:pPr>
            <a:r>
              <a:rPr lang="en-US" sz="1400" dirty="0">
                <a:solidFill>
                  <a:schemeClr val="tx1"/>
                </a:solidFill>
              </a:rPr>
              <a:t>Routage, publication, blocage, versions</a:t>
            </a:r>
            <a:endParaRPr lang="en-US" sz="1400" dirty="0"/>
          </a:p>
        </p:txBody>
      </p:sp>
      <p:sp>
        <p:nvSpPr>
          <p:cNvPr id="28" name="carte-258"/>
          <p:cNvSpPr/>
          <p:nvPr/>
        </p:nvSpPr>
        <p:spPr>
          <a:xfrm>
            <a:off x="9619488" y="1463040"/>
            <a:ext cx="2057400" cy="3657600"/>
          </a:xfrm>
          <a:prstGeom prst="roundRect">
            <a:avLst>
              <a:gd name="adj" fmla="val 5333"/>
            </a:avLst>
          </a:prstGeom>
          <a:solidFill>
            <a:schemeClr val="bg2"/>
          </a:solidFill>
          <a:ln w="12700">
            <a:solidFill>
              <a:schemeClr val="bg2"/>
            </a:solidFill>
            <a:prstDash val="solid"/>
          </a:ln>
        </p:spPr>
      </p:sp>
      <p:sp>
        <p:nvSpPr>
          <p:cNvPr id="29" name="avatar-259"/>
          <p:cNvSpPr/>
          <p:nvPr/>
        </p:nvSpPr>
        <p:spPr>
          <a:xfrm>
            <a:off x="10122408" y="1783080"/>
            <a:ext cx="1051560" cy="1051560"/>
          </a:xfrm>
          <a:prstGeom prst="ellipse">
            <a:avLst/>
          </a:prstGeom>
          <a:solidFill>
            <a:schemeClr val="accent1"/>
          </a:solidFill>
          <a:ln w="12700">
            <a:solidFill>
              <a:schemeClr val="accent1"/>
            </a:solidFill>
            <a:prstDash val="solid"/>
          </a:ln>
        </p:spPr>
      </p:sp>
      <p:sp>
        <p:nvSpPr>
          <p:cNvPr id="30" name="texte-260"/>
          <p:cNvSpPr txBox="1"/>
          <p:nvPr/>
        </p:nvSpPr>
        <p:spPr>
          <a:xfrm>
            <a:off x="10122408" y="1783080"/>
            <a:ext cx="1051560" cy="1051560"/>
          </a:xfrm>
          <a:prstGeom prst="rect">
            <a:avLst/>
          </a:prstGeom>
          <a:noFill/>
          <a:ln/>
        </p:spPr>
        <p:txBody>
          <a:bodyPr wrap="square" lIns="0" tIns="0" rIns="0" bIns="0" rtlCol="0" anchor="ctr"/>
          <a:lstStyle/>
          <a:p>
            <a:pPr marL="0" indent="0" algn="ctr">
              <a:buNone/>
            </a:pPr>
            <a:r>
              <a:rPr lang="en-US" sz="2400" b="1" dirty="0">
                <a:solidFill>
                  <a:schemeClr val="bg1"/>
                </a:solidFill>
              </a:rPr>
              <a:t>M5</a:t>
            </a:r>
            <a:endParaRPr lang="en-US" sz="2400" dirty="0"/>
          </a:p>
        </p:txBody>
      </p:sp>
      <p:sp>
        <p:nvSpPr>
          <p:cNvPr id="31" name="texte-261"/>
          <p:cNvSpPr txBox="1"/>
          <p:nvPr/>
        </p:nvSpPr>
        <p:spPr>
          <a:xfrm>
            <a:off x="9802368" y="3063240"/>
            <a:ext cx="1691640" cy="658368"/>
          </a:xfrm>
          <a:prstGeom prst="rect">
            <a:avLst/>
          </a:prstGeom>
          <a:noFill/>
          <a:ln/>
        </p:spPr>
        <p:txBody>
          <a:bodyPr wrap="square" lIns="0" tIns="0" rIns="0" bIns="0" rtlCol="0" anchor="t"/>
          <a:lstStyle/>
          <a:p>
            <a:pPr marL="0" indent="0" algn="ctr">
              <a:buNone/>
            </a:pPr>
            <a:r>
              <a:rPr lang="en-US" sz="1700" b="1" dirty="0">
                <a:solidFill>
                  <a:schemeClr val="tx2"/>
                </a:solidFill>
              </a:rPr>
              <a:t>ROUAMBA</a:t>
            </a:r>
            <a:endParaRPr lang="en-US" sz="1700" dirty="0"/>
          </a:p>
          <a:p>
            <a:pPr marL="0" indent="0" algn="ctr">
              <a:buNone/>
            </a:pPr>
            <a:r>
              <a:rPr lang="en-US" sz="1500" b="1" dirty="0">
                <a:solidFill>
                  <a:schemeClr val="tx2"/>
                </a:solidFill>
              </a:rPr>
              <a:t>Franck</a:t>
            </a:r>
            <a:endParaRPr lang="en-US" sz="1700" dirty="0"/>
          </a:p>
        </p:txBody>
      </p:sp>
      <p:sp>
        <p:nvSpPr>
          <p:cNvPr id="32" name="texte-262"/>
          <p:cNvSpPr txBox="1"/>
          <p:nvPr/>
        </p:nvSpPr>
        <p:spPr>
          <a:xfrm>
            <a:off x="9802368" y="3794760"/>
            <a:ext cx="1691640" cy="365760"/>
          </a:xfrm>
          <a:prstGeom prst="rect">
            <a:avLst/>
          </a:prstGeom>
          <a:noFill/>
          <a:ln/>
        </p:spPr>
        <p:txBody>
          <a:bodyPr wrap="square" lIns="0" tIns="0" rIns="0" bIns="0" rtlCol="0" anchor="t"/>
          <a:lstStyle/>
          <a:p>
            <a:pPr marL="0" indent="0" algn="ctr">
              <a:buNone/>
            </a:pPr>
            <a:r>
              <a:rPr lang="en-US" sz="1400" b="1" dirty="0">
                <a:solidFill>
                  <a:schemeClr val="accent1"/>
                </a:solidFill>
              </a:rPr>
              <a:t>WSO2 accès et tests</a:t>
            </a:r>
            <a:endParaRPr lang="en-US" sz="1400" dirty="0"/>
          </a:p>
        </p:txBody>
      </p:sp>
      <p:sp>
        <p:nvSpPr>
          <p:cNvPr id="33" name="texte-263"/>
          <p:cNvSpPr txBox="1"/>
          <p:nvPr/>
        </p:nvSpPr>
        <p:spPr>
          <a:xfrm>
            <a:off x="9802368" y="4224528"/>
            <a:ext cx="1691640" cy="1463040"/>
          </a:xfrm>
          <a:prstGeom prst="rect">
            <a:avLst/>
          </a:prstGeom>
          <a:noFill/>
          <a:ln/>
        </p:spPr>
        <p:txBody>
          <a:bodyPr wrap="square" lIns="0" tIns="0" rIns="0" bIns="0" rtlCol="0" anchor="t"/>
          <a:lstStyle/>
          <a:p>
            <a:pPr marL="0" indent="0" algn="ctr">
              <a:buNone/>
            </a:pPr>
            <a:r>
              <a:rPr lang="en-US" sz="1400" dirty="0">
                <a:solidFill>
                  <a:schemeClr val="tx1"/>
                </a:solidFill>
              </a:rPr>
              <a:t>Plans, applications, Postman, e2e</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48640"/>
            <a:ext cx="10698480" cy="914400"/>
          </a:xfrm>
          <a:prstGeom prst="rect">
            <a:avLst/>
          </a:prstGeom>
          <a:noFill/>
          <a:ln/>
        </p:spPr>
        <p:txBody>
          <a:bodyPr wrap="square" lIns="0" tIns="0" rIns="0" bIns="0" rtlCol="0"/>
          <a:lstStyle/>
          <a:p>
            <a:pPr marL="0" indent="0">
              <a:buNone/>
            </a:pPr>
            <a:r>
              <a:rPr lang="en-US" sz="3400" b="1" dirty="0">
                <a:solidFill>
                  <a:schemeClr val="bg1"/>
                </a:solidFill>
              </a:rPr>
              <a:t>Ce que nous démontrons maintenant en direct</a:t>
            </a:r>
            <a:endParaRPr lang="en-US" sz="3400" dirty="0"/>
          </a:p>
        </p:txBody>
      </p:sp>
      <p:sp>
        <p:nvSpPr>
          <p:cNvPr id="3" name="puce-264"/>
          <p:cNvSpPr/>
          <p:nvPr/>
        </p:nvSpPr>
        <p:spPr>
          <a:xfrm>
            <a:off x="731520" y="1901952"/>
            <a:ext cx="457200" cy="457200"/>
          </a:xfrm>
          <a:prstGeom prst="ellipse">
            <a:avLst/>
          </a:prstGeom>
          <a:solidFill>
            <a:schemeClr val="accent2"/>
          </a:solidFill>
          <a:ln w="12700">
            <a:solidFill>
              <a:schemeClr val="accent2"/>
            </a:solidFill>
            <a:prstDash val="solid"/>
          </a:ln>
        </p:spPr>
      </p:sp>
      <p:sp>
        <p:nvSpPr>
          <p:cNvPr id="4" name="puce-num-265"/>
          <p:cNvSpPr txBox="1"/>
          <p:nvPr/>
        </p:nvSpPr>
        <p:spPr>
          <a:xfrm>
            <a:off x="731520" y="1901952"/>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5" name="demo-266"/>
          <p:cNvSpPr txBox="1"/>
          <p:nvPr/>
        </p:nvSpPr>
        <p:spPr>
          <a:xfrm>
            <a:off x="1463040" y="1828800"/>
            <a:ext cx="9875520" cy="603504"/>
          </a:xfrm>
          <a:prstGeom prst="rect">
            <a:avLst/>
          </a:prstGeom>
          <a:noFill/>
          <a:ln/>
        </p:spPr>
        <p:txBody>
          <a:bodyPr wrap="square" lIns="0" tIns="0" rIns="0" bIns="0" rtlCol="0" anchor="ctr"/>
          <a:lstStyle/>
          <a:p>
            <a:pPr marL="0" indent="0">
              <a:buNone/>
            </a:pPr>
            <a:r>
              <a:rPr lang="en-US" sz="2000" dirty="0">
                <a:solidFill>
                  <a:schemeClr val="bg1"/>
                </a:solidFill>
              </a:rPr>
              <a:t>Appel authentifié via la passerelle : 200</a:t>
            </a:r>
            <a:endParaRPr lang="en-US" sz="2000" dirty="0"/>
          </a:p>
        </p:txBody>
      </p:sp>
      <p:sp>
        <p:nvSpPr>
          <p:cNvPr id="6" name="puce-267"/>
          <p:cNvSpPr/>
          <p:nvPr/>
        </p:nvSpPr>
        <p:spPr>
          <a:xfrm>
            <a:off x="731520" y="2770632"/>
            <a:ext cx="457200" cy="457200"/>
          </a:xfrm>
          <a:prstGeom prst="ellipse">
            <a:avLst/>
          </a:prstGeom>
          <a:solidFill>
            <a:schemeClr val="accent2"/>
          </a:solidFill>
          <a:ln w="12700">
            <a:solidFill>
              <a:schemeClr val="accent2"/>
            </a:solidFill>
            <a:prstDash val="solid"/>
          </a:ln>
        </p:spPr>
      </p:sp>
      <p:sp>
        <p:nvSpPr>
          <p:cNvPr id="7" name="puce-num-268"/>
          <p:cNvSpPr txBox="1"/>
          <p:nvPr/>
        </p:nvSpPr>
        <p:spPr>
          <a:xfrm>
            <a:off x="731520" y="2770632"/>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2</a:t>
            </a:r>
            <a:endParaRPr lang="en-US" sz="1600" dirty="0"/>
          </a:p>
        </p:txBody>
      </p:sp>
      <p:sp>
        <p:nvSpPr>
          <p:cNvPr id="8" name="demo-269"/>
          <p:cNvSpPr txBox="1"/>
          <p:nvPr/>
        </p:nvSpPr>
        <p:spPr>
          <a:xfrm>
            <a:off x="1463040" y="2697480"/>
            <a:ext cx="9875520" cy="603504"/>
          </a:xfrm>
          <a:prstGeom prst="rect">
            <a:avLst/>
          </a:prstGeom>
          <a:noFill/>
          <a:ln/>
        </p:spPr>
        <p:txBody>
          <a:bodyPr wrap="square" lIns="0" tIns="0" rIns="0" bIns="0" rtlCol="0" anchor="ctr"/>
          <a:lstStyle/>
          <a:p>
            <a:pPr marL="0" indent="0">
              <a:buNone/>
            </a:pPr>
            <a:r>
              <a:rPr lang="en-US" sz="2000" dirty="0">
                <a:solidFill>
                  <a:schemeClr val="bg1"/>
                </a:solidFill>
              </a:rPr>
              <a:t>Refus sans jeton, sans souscription, au-delà du quota</a:t>
            </a:r>
            <a:endParaRPr lang="en-US" sz="2000" dirty="0"/>
          </a:p>
        </p:txBody>
      </p:sp>
      <p:sp>
        <p:nvSpPr>
          <p:cNvPr id="9" name="puce-270"/>
          <p:cNvSpPr/>
          <p:nvPr/>
        </p:nvSpPr>
        <p:spPr>
          <a:xfrm>
            <a:off x="731520" y="3639312"/>
            <a:ext cx="457200" cy="457200"/>
          </a:xfrm>
          <a:prstGeom prst="ellipse">
            <a:avLst/>
          </a:prstGeom>
          <a:solidFill>
            <a:schemeClr val="accent2"/>
          </a:solidFill>
          <a:ln w="12700">
            <a:solidFill>
              <a:schemeClr val="accent2"/>
            </a:solidFill>
            <a:prstDash val="solid"/>
          </a:ln>
        </p:spPr>
      </p:sp>
      <p:sp>
        <p:nvSpPr>
          <p:cNvPr id="10" name="puce-num-271"/>
          <p:cNvSpPr txBox="1"/>
          <p:nvPr/>
        </p:nvSpPr>
        <p:spPr>
          <a:xfrm>
            <a:off x="731520" y="3639312"/>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3</a:t>
            </a:r>
            <a:endParaRPr lang="en-US" sz="1600" dirty="0"/>
          </a:p>
        </p:txBody>
      </p:sp>
      <p:sp>
        <p:nvSpPr>
          <p:cNvPr id="11" name="demo-272"/>
          <p:cNvSpPr txBox="1"/>
          <p:nvPr/>
        </p:nvSpPr>
        <p:spPr>
          <a:xfrm>
            <a:off x="1463040" y="3566160"/>
            <a:ext cx="9875520" cy="603504"/>
          </a:xfrm>
          <a:prstGeom prst="rect">
            <a:avLst/>
          </a:prstGeom>
          <a:noFill/>
          <a:ln/>
        </p:spPr>
        <p:txBody>
          <a:bodyPr wrap="square" lIns="0" tIns="0" rIns="0" bIns="0" rtlCol="0" anchor="ctr"/>
          <a:lstStyle/>
          <a:p>
            <a:pPr marL="0" indent="0">
              <a:buNone/>
            </a:pPr>
            <a:r>
              <a:rPr lang="en-US" sz="2000" dirty="0">
                <a:solidFill>
                  <a:schemeClr val="bg1"/>
                </a:solidFill>
              </a:rPr>
              <a:t>Blocage puis republication de l'API</a:t>
            </a:r>
            <a:endParaRPr lang="en-US" sz="2000" dirty="0"/>
          </a:p>
        </p:txBody>
      </p:sp>
      <p:sp>
        <p:nvSpPr>
          <p:cNvPr id="12" name="puce-273"/>
          <p:cNvSpPr/>
          <p:nvPr/>
        </p:nvSpPr>
        <p:spPr>
          <a:xfrm>
            <a:off x="731520" y="4507992"/>
            <a:ext cx="457200" cy="457200"/>
          </a:xfrm>
          <a:prstGeom prst="ellipse">
            <a:avLst/>
          </a:prstGeom>
          <a:solidFill>
            <a:schemeClr val="accent2"/>
          </a:solidFill>
          <a:ln w="12700">
            <a:solidFill>
              <a:schemeClr val="accent2"/>
            </a:solidFill>
            <a:prstDash val="solid"/>
          </a:ln>
        </p:spPr>
      </p:sp>
      <p:sp>
        <p:nvSpPr>
          <p:cNvPr id="13" name="puce-num-274"/>
          <p:cNvSpPr txBox="1"/>
          <p:nvPr/>
        </p:nvSpPr>
        <p:spPr>
          <a:xfrm>
            <a:off x="731520" y="4507992"/>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4</a:t>
            </a:r>
            <a:endParaRPr lang="en-US" sz="1600" dirty="0"/>
          </a:p>
        </p:txBody>
      </p:sp>
      <p:sp>
        <p:nvSpPr>
          <p:cNvPr id="14" name="demo-275"/>
          <p:cNvSpPr txBox="1"/>
          <p:nvPr/>
        </p:nvSpPr>
        <p:spPr>
          <a:xfrm>
            <a:off x="1463040" y="4434840"/>
            <a:ext cx="9875520" cy="603504"/>
          </a:xfrm>
          <a:prstGeom prst="rect">
            <a:avLst/>
          </a:prstGeom>
          <a:noFill/>
          <a:ln/>
        </p:spPr>
        <p:txBody>
          <a:bodyPr wrap="square" lIns="0" tIns="0" rIns="0" bIns="0" rtlCol="0" anchor="ctr"/>
          <a:lstStyle/>
          <a:p>
            <a:pPr marL="0" indent="0">
              <a:buNone/>
            </a:pPr>
            <a:r>
              <a:rPr lang="en-US" sz="2000" dirty="0">
                <a:solidFill>
                  <a:schemeClr val="bg1"/>
                </a:solidFill>
              </a:rPr>
              <a:t>Panne du backend : même API, autre erreur</a:t>
            </a:r>
            <a:endParaRPr lang="en-US" sz="2000" dirty="0"/>
          </a:p>
        </p:txBody>
      </p:sp>
      <p:sp>
        <p:nvSpPr>
          <p:cNvPr id="15" name="puce-276"/>
          <p:cNvSpPr/>
          <p:nvPr/>
        </p:nvSpPr>
        <p:spPr>
          <a:xfrm>
            <a:off x="731520" y="5376672"/>
            <a:ext cx="457200" cy="457200"/>
          </a:xfrm>
          <a:prstGeom prst="ellipse">
            <a:avLst/>
          </a:prstGeom>
          <a:solidFill>
            <a:schemeClr val="accent2"/>
          </a:solidFill>
          <a:ln w="12700">
            <a:solidFill>
              <a:schemeClr val="accent2"/>
            </a:solidFill>
            <a:prstDash val="solid"/>
          </a:ln>
        </p:spPr>
      </p:sp>
      <p:sp>
        <p:nvSpPr>
          <p:cNvPr id="16" name="puce-num-277"/>
          <p:cNvSpPr txBox="1"/>
          <p:nvPr/>
        </p:nvSpPr>
        <p:spPr>
          <a:xfrm>
            <a:off x="731520" y="5376672"/>
            <a:ext cx="457200" cy="457200"/>
          </a:xfrm>
          <a:prstGeom prst="rect">
            <a:avLst/>
          </a:prstGeom>
          <a:noFill/>
          <a:ln/>
        </p:spPr>
        <p:txBody>
          <a:bodyPr wrap="square" lIns="0" tIns="0" rIns="0" bIns="0" rtlCol="0" anchor="ctr"/>
          <a:lstStyle/>
          <a:p>
            <a:pPr marL="0" indent="0" algn="ctr">
              <a:buNone/>
            </a:pPr>
            <a:r>
              <a:rPr lang="en-US" sz="1600" b="1" dirty="0">
                <a:solidFill>
                  <a:schemeClr val="tx2"/>
                </a:solidFill>
              </a:rPr>
              <a:t>5</a:t>
            </a:r>
            <a:endParaRPr lang="en-US" sz="1600" dirty="0"/>
          </a:p>
        </p:txBody>
      </p:sp>
      <p:sp>
        <p:nvSpPr>
          <p:cNvPr id="17" name="demo-278"/>
          <p:cNvSpPr txBox="1"/>
          <p:nvPr/>
        </p:nvSpPr>
        <p:spPr>
          <a:xfrm>
            <a:off x="1463040" y="5303520"/>
            <a:ext cx="9875520" cy="603504"/>
          </a:xfrm>
          <a:prstGeom prst="rect">
            <a:avLst/>
          </a:prstGeom>
          <a:noFill/>
          <a:ln/>
        </p:spPr>
        <p:txBody>
          <a:bodyPr wrap="square" lIns="0" tIns="0" rIns="0" bIns="0" rtlCol="0" anchor="ctr"/>
          <a:lstStyle/>
          <a:p>
            <a:pPr marL="0" indent="0">
              <a:buNone/>
            </a:pPr>
            <a:r>
              <a:rPr lang="en-US" sz="2000" dirty="0">
                <a:solidFill>
                  <a:schemeClr val="bg1"/>
                </a:solidFill>
              </a:rPr>
              <a:t>Publication de la v2 et dépréciation de la v1</a:t>
            </a:r>
            <a:endParaRPr lang="en-US" sz="2000" dirty="0"/>
          </a:p>
        </p:txBody>
      </p:sp>
      <p:sp>
        <p:nvSpPr>
          <p:cNvPr id="18" name="merci"/>
          <p:cNvSpPr txBox="1"/>
          <p:nvPr/>
        </p:nvSpPr>
        <p:spPr>
          <a:xfrm>
            <a:off x="731520" y="6172200"/>
            <a:ext cx="10698480" cy="365760"/>
          </a:xfrm>
          <a:prstGeom prst="rect">
            <a:avLst/>
          </a:prstGeom>
          <a:noFill/>
          <a:ln/>
        </p:spPr>
        <p:txBody>
          <a:bodyPr wrap="square" lIns="0" tIns="0" rIns="0" bIns="0" rtlCol="0" anchor="ctr"/>
          <a:lstStyle/>
          <a:p>
            <a:pPr marL="0" indent="0">
              <a:buNone/>
            </a:pPr>
            <a:r>
              <a:rPr lang="en-US" sz="1600" dirty="0">
                <a:solidFill>
                  <a:schemeClr val="accent6"/>
                </a:solidFill>
              </a:rPr>
              <a:t>Merci · Questions</a:t>
            </a:r>
            <a:endParaRPr lang="en-US" sz="1600" dirty="0"/>
          </a:p>
        </p:txBody>
      </p:sp>
    </p:spTree>
  </p:cSld>
  <p:clrMapOvr>
    <a:masterClrMapping/>
  </p:clrMapOvr>
</p:sld>
</file>

<file path=ppt/theme/theme1.xml><?xml version="1.0" encoding="utf-8"?>
<a:theme xmlns:a="http://schemas.openxmlformats.org/drawingml/2006/main" name="Groupe3 Sante">
  <a:themeElements>
    <a:clrScheme name="Groupe3 Sante">
      <a:dk1>
        <a:srgbClr val="1E2B2A"/>
      </a:dk1>
      <a:lt1>
        <a:srgbClr val="FFFFFF"/>
      </a:lt1>
      <a:dk2>
        <a:srgbClr val="0B4F4A"/>
      </a:dk2>
      <a:lt2>
        <a:srgbClr val="E7F2EF"/>
      </a:lt2>
      <a:accent1>
        <a:srgbClr val="0F766E"/>
      </a:accent1>
      <a:accent2>
        <a:srgbClr val="E39B2D"/>
      </a:accent2>
      <a:accent3>
        <a:srgbClr val="B4441C"/>
      </a:accent3>
      <a:accent4>
        <a:srgbClr val="475569"/>
      </a:accent4>
      <a:accent5>
        <a:srgbClr val="15803D"/>
      </a:accent5>
      <a:accent6>
        <a:srgbClr val="A7C4BE"/>
      </a:accent6>
      <a:hlink>
        <a:srgbClr val="0F766E"/>
      </a:hlink>
      <a:folHlink>
        <a:srgbClr val="475569"/>
      </a:folHlink>
    </a:clrScheme>
    <a:fontScheme name="Groupe3 San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1729</Words>
  <Application>Microsoft Office PowerPoint</Application>
  <PresentationFormat>Grand écran</PresentationFormat>
  <Paragraphs>331</Paragraphs>
  <Slides>14</Slides>
  <Notes>13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Calibri</vt:lpstr>
      <vt:lpstr>Cambria</vt:lpstr>
      <vt:lpstr>Courier New</vt:lpstr>
      <vt:lpstr>Groupe3 Sante</vt:lpstr>
      <vt:lpstr>Gestion du cycle de vie d'une API avec WSO2 API Manager</vt:lpstr>
      <vt:lpstr>Sept consignes, toutes démontrées en direct</vt:lpstr>
      <vt:lpstr>Le client ne parle qu'à la passerelle WSO2</vt:lpstr>
      <vt:lpstr>Une API de consultation simple et stricte</vt:lpstr>
      <vt:lpstr>Le contrat OpenAPI documente chaque erreur</vt:lpstr>
      <vt:lpstr>Un jeton, une souscription, un quota</vt:lpstr>
      <vt:lpstr>Le cycle de vie suivi de bout en bout</vt:lpstr>
      <vt:lpstr>Retrait de publication ≠ arrêt technique</vt:lpstr>
      <vt:lpstr>La v2 enrichit l'API sans casser la v1</vt:lpstr>
      <vt:lpstr>Douze scénarios, rejoués automatiquement</vt:lpstr>
      <vt:lpstr>Les preuves : captures réelles de WSO2</vt:lpstr>
      <vt:lpstr>Installation reproductible sur une machine neuve</vt:lpstr>
      <vt:lpstr>Cinq rôles, un dépôt partagé</vt:lpstr>
      <vt:lpstr>Ce que nous démontrons maintenant en direct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du cycle de vie des API avec WSO2 API Manager</dc:title>
  <dc:subject>PptxGenJS Presentation</dc:subject>
  <dc:creator>Groupe 3 SI</dc:creator>
  <cp:lastModifiedBy>Franck ROUAMBA</cp:lastModifiedBy>
  <cp:revision>3</cp:revision>
  <dcterms:created xsi:type="dcterms:W3CDTF">2026-10-20T22:34:04Z</dcterms:created>
  <dcterms:modified xsi:type="dcterms:W3CDTF">2026-10-29T17:06:15Z</dcterms:modified>
</cp:coreProperties>
</file>